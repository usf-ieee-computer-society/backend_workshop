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modernComment_100_2B8092CF.xml" ContentType="application/vnd.ms-powerpoint.comment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66" r:id="rId3"/>
    <p:sldId id="322" r:id="rId4"/>
    <p:sldId id="259" r:id="rId5"/>
    <p:sldId id="348" r:id="rId6"/>
    <p:sldId id="257" r:id="rId7"/>
    <p:sldId id="306" r:id="rId8"/>
    <p:sldId id="354" r:id="rId9"/>
    <p:sldId id="323" r:id="rId10"/>
    <p:sldId id="340" r:id="rId11"/>
    <p:sldId id="349" r:id="rId12"/>
    <p:sldId id="342" r:id="rId13"/>
    <p:sldId id="345" r:id="rId14"/>
    <p:sldId id="350" r:id="rId15"/>
    <p:sldId id="351" r:id="rId16"/>
    <p:sldId id="352" r:id="rId17"/>
    <p:sldId id="346" r:id="rId18"/>
    <p:sldId id="355" r:id="rId19"/>
    <p:sldId id="263" r:id="rId20"/>
    <p:sldId id="344" r:id="rId21"/>
    <p:sldId id="337" r:id="rId22"/>
    <p:sldId id="331" r:id="rId23"/>
    <p:sldId id="328" r:id="rId24"/>
    <p:sldId id="353" r:id="rId25"/>
    <p:sldId id="332" r:id="rId26"/>
    <p:sldId id="333" r:id="rId27"/>
    <p:sldId id="335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6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1C4AA92-AEA3-0F82-31EF-7A513C18DCAD}" name="Sneha Siri Nagabathula" initials="SN" userId="S::snehasiri@usf.edu::7986d1ba-5f40-4829-bed4-c1f23db3309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9616"/>
    <a:srgbClr val="314A2E"/>
    <a:srgbClr val="EBECDC"/>
    <a:srgbClr val="484137"/>
    <a:srgbClr val="FAF7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08"/>
    <p:restoredTop sz="86395"/>
  </p:normalViewPr>
  <p:slideViewPr>
    <p:cSldViewPr snapToGrid="0" showGuides="1">
      <p:cViewPr varScale="1">
        <p:scale>
          <a:sx n="110" d="100"/>
          <a:sy n="110" d="100"/>
        </p:scale>
        <p:origin x="192" y="168"/>
      </p:cViewPr>
      <p:guideLst>
        <p:guide orient="horz" pos="2160"/>
        <p:guide pos="3816"/>
      </p:guideLst>
    </p:cSldViewPr>
  </p:slideViewPr>
  <p:outlineViewPr>
    <p:cViewPr>
      <p:scale>
        <a:sx n="33" d="100"/>
        <a:sy n="33" d="100"/>
      </p:scale>
      <p:origin x="0" y="-14904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omments/modernComment_100_2B8092C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EA1D8CA-93AA-4A23-96F6-A9CB2162DCA4}" authorId="{E1C4AA92-AEA3-0F82-31EF-7A513C18DCAD}" created="2024-08-10T01:06:07.288">
    <pc:sldMkLst xmlns:pc="http://schemas.microsoft.com/office/powerpoint/2013/main/command">
      <pc:docMk/>
      <pc:sldMk cId="729846479" sldId="256"/>
    </pc:sldMkLst>
    <p188:txBody>
      <a:bodyPr/>
      <a:lstStyle/>
      <a:p>
        <a:r>
          <a:rPr lang="en-US"/>
          <a:t>Introduce IEEE-CS, welcome 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650311-22A9-1349-B45F-2C231684D580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062A9A-2237-3446-94ED-CA6761C0E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382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that you design those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062A9A-2237-3446-94ED-CA6761C0E8E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1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062A9A-2237-3446-94ED-CA6761C0E8E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1331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062A9A-2237-3446-94ED-CA6761C0E8E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95917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062A9A-2237-3446-94ED-CA6761C0E8E6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4128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327F7-0E5B-AC8A-8E83-50B95A3D5F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5B8BF6-B452-261C-9352-63BF063222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7A2E6F-0412-6180-DB14-6FF1BD3B4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6DED6-28A0-4C69-8820-8720E0C11E3B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222AFA-3CF4-1DB6-1BA0-8848BF7FC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E82605-9ED5-6C37-DB69-81E29190F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56F3B-577D-47AE-9239-D0AAC612BD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096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FE0F1-C973-B696-9D9D-73738308F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F154C-8FA2-72F5-7223-FF4238BBAE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8977BE-AC20-C009-7F9F-FE4F18A2A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6DED6-28A0-4C69-8820-8720E0C11E3B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034A6-E637-14A6-678C-1F7B59240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DB7394-3322-A6F9-F15B-6B15E9BD3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56F3B-577D-47AE-9239-D0AAC612BD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86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018F2-6719-04C2-52E0-50201ED5D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83488C-BE8A-00D1-1C17-FC2EBBA9FA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AAAC70-CB9E-0FF5-C4F6-16BD51315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6DED6-28A0-4C69-8820-8720E0C11E3B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F1215F-2ACE-04A9-9D9F-422939937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0723E7-17E6-CF8A-5D06-43CAF7E74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56F3B-577D-47AE-9239-D0AAC612BD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039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86985-D148-089D-834A-949237B5A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B1AA72-CCC3-026C-82BC-4CE21E9462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AD73AC-DE52-EAC0-2A08-38BBBD670B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6AC1C7-DA8C-6B91-9737-88873F636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6DED6-28A0-4C69-8820-8720E0C11E3B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E4080A-B7FC-520B-0338-E310B05DE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8142AD-60FC-41F8-0D26-02222B5DC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56F3B-577D-47AE-9239-D0AAC612BD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837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9941A-93B7-DDE2-86FD-16DF02FC9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865AB2-25C8-0022-DC90-2D799E434F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98BBC0-DD69-A5C7-2990-0EA98F91D0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2D36A3-A9BD-E667-E45E-C8615D25D8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218B54-3895-A33D-0254-AA73808DB9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ED3E8F-61C9-BEBF-9525-16ED911DD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6DED6-28A0-4C69-8820-8720E0C11E3B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D476B9-4497-F636-AF83-C79A7DD6B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C62DB1-F511-F1DB-9487-E70B4A1D9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56F3B-577D-47AE-9239-D0AAC612BD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926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7BFF2-DEA3-75CC-FD91-9D56E817C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861EC4-3130-2B0B-204D-D31EEAA5D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6DED6-28A0-4C69-8820-8720E0C11E3B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2136F3-C137-3FC1-C3ED-222CCEB6B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E9B5FA-514E-EE73-D867-73EF7D0B3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56F3B-577D-47AE-9239-D0AAC612BD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872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175C32-83AE-D008-EE69-F45E584F6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6DED6-28A0-4C69-8820-8720E0C11E3B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D15B16-F30E-ADBA-4C2B-16EF79C0B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6E3E28-8F59-4755-93A4-4BE4385FF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56F3B-577D-47AE-9239-D0AAC612BD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551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9F32A-1E1B-6C27-5C57-75E26595A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624F8-F513-ECA2-0DBA-93E4F1A28C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BA9ABC-DAD5-FD17-C8D7-92F2F46C88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22C116-A605-B328-4E52-A62FFB357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6DED6-28A0-4C69-8820-8720E0C11E3B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5B2C4A-8F98-A84D-20F5-CB890D1CB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56ED77-F419-E20E-2364-B42E6CC44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56F3B-577D-47AE-9239-D0AAC612BD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169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78E5F-402C-DA3C-EFC0-25F776661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5FD459-B785-8E13-0969-898E54C1F0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E30989-09F1-2354-10FE-1E9BBEA73A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1D5F97-878E-8355-D202-A168447E6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6DED6-28A0-4C69-8820-8720E0C11E3B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4F23BF-521C-861B-975F-67EFFAB56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86708-E255-75D0-916D-45548133D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56F3B-577D-47AE-9239-D0AAC612BD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020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2EA01-ACCA-88B7-8580-8F1667BE8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3C3C50-FC4B-6C6E-A686-6D42ED03C1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7FAE49-02F7-8025-0FCC-965FE3FF5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6DED6-28A0-4C69-8820-8720E0C11E3B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63FE98-DAF0-8E83-A5D5-2B39A8689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FBFFA2-F8AA-57E2-5FA1-60EA87D98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56F3B-577D-47AE-9239-D0AAC612BD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854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7E5A98-E323-A073-B6D0-F401CDBA16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BD33CC-2F78-6E54-B5C2-31868B2641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16BA2B-B365-0D45-8BB4-A344D18C2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6DED6-28A0-4C69-8820-8720E0C11E3B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E21AD2-E2F0-32C6-56D2-8BB3A7D8F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03690B-869F-2A74-F1D9-88C3FDDEB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56F3B-577D-47AE-9239-D0AAC612BD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103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8B35A8-BC29-85D9-B251-F4E0C0DA9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3196AA-6A00-1E82-E67D-9033371312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07ADCF-F322-DBFC-FB62-53F6684241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B6DED6-28A0-4C69-8820-8720E0C11E3B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721A42-E321-D04D-4AA3-665FA9B077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F1C99C-FCC1-DA75-0F35-D1DD636B1B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556F3B-577D-47AE-9239-D0AAC612BD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639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8/10/relationships/comments" Target="../comments/modernComment_100_2B8092CF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5B6C3-CDE1-0E03-CBE0-7B0DA50B3A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7286" y="2042319"/>
            <a:ext cx="9144000" cy="2387600"/>
          </a:xfrm>
        </p:spPr>
        <p:txBody>
          <a:bodyPr/>
          <a:lstStyle/>
          <a:p>
            <a:r>
              <a:rPr lang="en-US" dirty="0">
                <a:solidFill>
                  <a:srgbClr val="484137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Student Branch Chapter  @ USF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B4E760-CB48-334F-BBFE-34C6E0D18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65376" y="4530090"/>
            <a:ext cx="5966651" cy="1655762"/>
          </a:xfrm>
        </p:spPr>
        <p:txBody>
          <a:bodyPr>
            <a:normAutofit fontScale="92500" lnSpcReduction="10000"/>
          </a:bodyPr>
          <a:lstStyle/>
          <a:p>
            <a:pPr algn="r"/>
            <a:endParaRPr lang="en-US" dirty="0">
              <a:solidFill>
                <a:srgbClr val="F09616"/>
              </a:solidFill>
            </a:endParaRPr>
          </a:p>
          <a:p>
            <a:pPr algn="r"/>
            <a:endParaRPr lang="en-US" dirty="0">
              <a:solidFill>
                <a:srgbClr val="F09616"/>
              </a:solidFill>
            </a:endParaRPr>
          </a:p>
          <a:p>
            <a:pPr algn="r"/>
            <a:r>
              <a:rPr lang="en-US" b="1" dirty="0">
                <a:solidFill>
                  <a:srgbClr val="F09616"/>
                </a:solidFill>
              </a:rPr>
              <a:t>SQL Musical Workshop </a:t>
            </a:r>
          </a:p>
          <a:p>
            <a:pPr algn="r"/>
            <a:r>
              <a:rPr lang="en-US" b="1" dirty="0">
                <a:solidFill>
                  <a:srgbClr val="F09616"/>
                </a:solidFill>
              </a:rPr>
              <a:t>IEEE CS Backend Lead: Akmal Kurbanov</a:t>
            </a:r>
          </a:p>
        </p:txBody>
      </p:sp>
      <p:pic>
        <p:nvPicPr>
          <p:cNvPr id="5" name="Picture 4" descr="A black background with a white object&#10;&#10;Description automatically generated">
            <a:extLst>
              <a:ext uri="{FF2B5EF4-FFF2-40B4-BE49-F238E27FC236}">
                <a16:creationId xmlns:a16="http://schemas.microsoft.com/office/drawing/2014/main" id="{F5B97FD1-41FA-C0B1-65CF-C4A4D92D49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6913" y="872488"/>
            <a:ext cx="4754890" cy="1455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84647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80A8A-37F8-2236-4440-103A6C87D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076" y="181756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F0961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Check in!  Support us!  </a:t>
            </a:r>
          </a:p>
        </p:txBody>
      </p:sp>
      <p:pic>
        <p:nvPicPr>
          <p:cNvPr id="4" name="Content Placeholder 4" descr="A cartoon of a cat with a computer chip&#10;&#10;Description automatically generated">
            <a:extLst>
              <a:ext uri="{FF2B5EF4-FFF2-40B4-BE49-F238E27FC236}">
                <a16:creationId xmlns:a16="http://schemas.microsoft.com/office/drawing/2014/main" id="{71B48CC2-A82A-2DD4-4490-FAE405F802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883" b="89987" l="7218" r="96653">
                        <a14:foregroundMark x1="10251" y1="79324" x2="10565" y2="70611"/>
                        <a14:foregroundMark x1="7322" y1="68270" x2="7845" y2="71131"/>
                        <a14:foregroundMark x1="20607" y1="89337" x2="20397" y2="88036"/>
                        <a14:foregroundMark x1="23431" y1="89597" x2="35042" y2="89987"/>
                        <a14:foregroundMark x1="91004" y1="49805" x2="96653" y2="40182"/>
                        <a14:foregroundMark x1="7322" y1="71131" x2="8368" y2="58648"/>
                        <a14:backgroundMark x1="9310" y1="52926" x2="4393" y2="6020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5223" y="137907"/>
            <a:ext cx="1647904" cy="1325563"/>
          </a:xfrm>
          <a:prstGeom prst="rect">
            <a:avLst/>
          </a:prstGeom>
        </p:spPr>
      </p:pic>
      <p:pic>
        <p:nvPicPr>
          <p:cNvPr id="3" name="Picture 2" descr="A qr code with black squares&#10;&#10;AI-generated content may be incorrect.">
            <a:extLst>
              <a:ext uri="{FF2B5EF4-FFF2-40B4-BE49-F238E27FC236}">
                <a16:creationId xmlns:a16="http://schemas.microsoft.com/office/drawing/2014/main" id="{361EF2C4-303A-107C-E6AA-920170604A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146050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257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80A8A-37F8-2236-4440-103A6C87D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076" y="181756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F0961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PowerPoint can be obtained</a:t>
            </a:r>
          </a:p>
        </p:txBody>
      </p:sp>
      <p:pic>
        <p:nvPicPr>
          <p:cNvPr id="4" name="Content Placeholder 4" descr="A cartoon of a cat with a computer chip&#10;&#10;Description automatically generated">
            <a:extLst>
              <a:ext uri="{FF2B5EF4-FFF2-40B4-BE49-F238E27FC236}">
                <a16:creationId xmlns:a16="http://schemas.microsoft.com/office/drawing/2014/main" id="{71B48CC2-A82A-2DD4-4490-FAE405F802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883" b="89987" l="7218" r="96653">
                        <a14:foregroundMark x1="10251" y1="79324" x2="10565" y2="70611"/>
                        <a14:foregroundMark x1="7322" y1="68270" x2="7845" y2="71131"/>
                        <a14:foregroundMark x1="20607" y1="89337" x2="20397" y2="88036"/>
                        <a14:foregroundMark x1="23431" y1="89597" x2="35042" y2="89987"/>
                        <a14:foregroundMark x1="91004" y1="49805" x2="96653" y2="40182"/>
                        <a14:foregroundMark x1="7322" y1="71131" x2="8368" y2="58648"/>
                        <a14:backgroundMark x1="9310" y1="52926" x2="4393" y2="6020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5223" y="137907"/>
            <a:ext cx="1647904" cy="1325563"/>
          </a:xfrm>
          <a:prstGeom prst="rect">
            <a:avLst/>
          </a:prstGeom>
        </p:spPr>
      </p:pic>
      <p:pic>
        <p:nvPicPr>
          <p:cNvPr id="5" name="Picture 4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1ED570A0-3448-D80D-8DCC-8BA9B4DD46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6812" y="1551168"/>
            <a:ext cx="4644996" cy="4644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859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D4D87-9B19-3804-27E2-E0E5EAAC7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0961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Follow Us </a:t>
            </a:r>
          </a:p>
        </p:txBody>
      </p:sp>
      <p:pic>
        <p:nvPicPr>
          <p:cNvPr id="5" name="Content Placeholder 4" descr="A cartoon of a cat with a computer chip&#10;&#10;Description automatically generated">
            <a:extLst>
              <a:ext uri="{FF2B5EF4-FFF2-40B4-BE49-F238E27FC236}">
                <a16:creationId xmlns:a16="http://schemas.microsoft.com/office/drawing/2014/main" id="{A782521A-4FAC-B8C9-2C4F-AEFA7E328F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883" b="89987" l="7218" r="96653">
                        <a14:foregroundMark x1="10251" y1="79324" x2="10565" y2="70611"/>
                        <a14:foregroundMark x1="7322" y1="68270" x2="7845" y2="71131"/>
                        <a14:foregroundMark x1="20607" y1="89337" x2="20397" y2="88036"/>
                        <a14:foregroundMark x1="23431" y1="89597" x2="35042" y2="89987"/>
                        <a14:foregroundMark x1="91004" y1="49805" x2="96653" y2="40182"/>
                        <a14:foregroundMark x1="7322" y1="71131" x2="8368" y2="58648"/>
                        <a14:backgroundMark x1="9310" y1="52926" x2="4393" y2="6020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2497" y="365125"/>
            <a:ext cx="1647904" cy="1325563"/>
          </a:xfrm>
        </p:spPr>
      </p:pic>
      <p:pic>
        <p:nvPicPr>
          <p:cNvPr id="7" name="Picture 6" descr="A qr code on a screen&#10;&#10;Description automatically generated">
            <a:extLst>
              <a:ext uri="{FF2B5EF4-FFF2-40B4-BE49-F238E27FC236}">
                <a16:creationId xmlns:a16="http://schemas.microsoft.com/office/drawing/2014/main" id="{57F54464-2CD2-020C-54B0-243EAAB1E30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-1" r="571" b="30321"/>
          <a:stretch/>
        </p:blipFill>
        <p:spPr>
          <a:xfrm>
            <a:off x="838200" y="1923689"/>
            <a:ext cx="2841171" cy="287691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22274ED-0AAA-877C-A5BF-49FB16E9DADB}"/>
              </a:ext>
            </a:extLst>
          </p:cNvPr>
          <p:cNvSpPr txBox="1"/>
          <p:nvPr/>
        </p:nvSpPr>
        <p:spPr>
          <a:xfrm>
            <a:off x="1605642" y="5033601"/>
            <a:ext cx="1306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484137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Instagram</a:t>
            </a:r>
          </a:p>
        </p:txBody>
      </p:sp>
      <p:pic>
        <p:nvPicPr>
          <p:cNvPr id="10" name="Picture 9" descr="A qr code on a screen&#10;&#10;Description automatically generated">
            <a:extLst>
              <a:ext uri="{FF2B5EF4-FFF2-40B4-BE49-F238E27FC236}">
                <a16:creationId xmlns:a16="http://schemas.microsoft.com/office/drawing/2014/main" id="{1ED4D2C2-EB25-D4CA-26FA-22BA50DE16CC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084"/>
          <a:stretch/>
        </p:blipFill>
        <p:spPr>
          <a:xfrm>
            <a:off x="4576647" y="1923689"/>
            <a:ext cx="2857500" cy="2876911"/>
          </a:xfrm>
          <a:prstGeom prst="rect">
            <a:avLst/>
          </a:prstGeom>
        </p:spPr>
      </p:pic>
      <p:pic>
        <p:nvPicPr>
          <p:cNvPr id="12" name="Picture 11" descr="A qr code on a screen&#10;&#10;Description automatically generated">
            <a:extLst>
              <a:ext uri="{FF2B5EF4-FFF2-40B4-BE49-F238E27FC236}">
                <a16:creationId xmlns:a16="http://schemas.microsoft.com/office/drawing/2014/main" id="{65377DEF-EEA8-8C0A-9DEB-C6CDDCA44BA7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084"/>
          <a:stretch/>
        </p:blipFill>
        <p:spPr>
          <a:xfrm>
            <a:off x="8331423" y="1923689"/>
            <a:ext cx="2857500" cy="287691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CAC1CDC-9273-83A8-9384-DC53AA290D49}"/>
              </a:ext>
            </a:extLst>
          </p:cNvPr>
          <p:cNvSpPr txBox="1"/>
          <p:nvPr/>
        </p:nvSpPr>
        <p:spPr>
          <a:xfrm>
            <a:off x="5442857" y="5033601"/>
            <a:ext cx="1306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484137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LinkedIn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933657-C027-654D-F1FA-C200D0EA0A63}"/>
              </a:ext>
            </a:extLst>
          </p:cNvPr>
          <p:cNvSpPr txBox="1"/>
          <p:nvPr/>
        </p:nvSpPr>
        <p:spPr>
          <a:xfrm>
            <a:off x="9274169" y="5026725"/>
            <a:ext cx="1306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484137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Discord</a:t>
            </a:r>
          </a:p>
        </p:txBody>
      </p:sp>
      <p:pic>
        <p:nvPicPr>
          <p:cNvPr id="3" name="Picture 2" descr="QR Code Image">
            <a:extLst>
              <a:ext uri="{FF2B5EF4-FFF2-40B4-BE49-F238E27FC236}">
                <a16:creationId xmlns:a16="http://schemas.microsoft.com/office/drawing/2014/main" id="{3EE77611-E4FB-EAAF-D149-7B59FB8375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7097" y="2320456"/>
            <a:ext cx="2083376" cy="2083376"/>
          </a:xfrm>
          <a:prstGeom prst="rect">
            <a:avLst/>
          </a:prstGeom>
          <a:solidFill>
            <a:srgbClr val="FAA300"/>
          </a:solidFill>
        </p:spPr>
      </p:pic>
    </p:spTree>
    <p:extLst>
      <p:ext uri="{BB962C8B-B14F-4D97-AF65-F5344CB8AC3E}">
        <p14:creationId xmlns:p14="http://schemas.microsoft.com/office/powerpoint/2010/main" val="5000495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D4D87-9B19-3804-27E2-E0E5EAAC7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0961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Link for the app </a:t>
            </a:r>
            <a:endParaRPr lang="en-US" dirty="0">
              <a:solidFill>
                <a:srgbClr val="484137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5" name="Content Placeholder 4" descr="A cartoon of a cat with a computer chip&#10;&#10;Description automatically generated">
            <a:extLst>
              <a:ext uri="{FF2B5EF4-FFF2-40B4-BE49-F238E27FC236}">
                <a16:creationId xmlns:a16="http://schemas.microsoft.com/office/drawing/2014/main" id="{A782521A-4FAC-B8C9-2C4F-AEFA7E328F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883" b="89987" l="7218" r="96653">
                        <a14:foregroundMark x1="10251" y1="79324" x2="10565" y2="70611"/>
                        <a14:foregroundMark x1="7322" y1="68270" x2="7845" y2="71131"/>
                        <a14:foregroundMark x1="20607" y1="89337" x2="20397" y2="88036"/>
                        <a14:foregroundMark x1="23431" y1="89597" x2="35042" y2="89987"/>
                        <a14:foregroundMark x1="91004" y1="49805" x2="96653" y2="40182"/>
                        <a14:foregroundMark x1="7322" y1="71131" x2="8368" y2="58648"/>
                        <a14:backgroundMark x1="9310" y1="52926" x2="4393" y2="6020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2497" y="365125"/>
            <a:ext cx="1647904" cy="1325563"/>
          </a:xfr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CAC1CDC-9273-83A8-9384-DC53AA290D49}"/>
              </a:ext>
            </a:extLst>
          </p:cNvPr>
          <p:cNvSpPr txBox="1"/>
          <p:nvPr/>
        </p:nvSpPr>
        <p:spPr>
          <a:xfrm>
            <a:off x="7186074" y="5472026"/>
            <a:ext cx="22578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09616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Swagger UI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D2F933-2E29-503E-BC58-48534E5C8633}"/>
              </a:ext>
            </a:extLst>
          </p:cNvPr>
          <p:cNvSpPr txBox="1"/>
          <p:nvPr/>
        </p:nvSpPr>
        <p:spPr>
          <a:xfrm>
            <a:off x="1952245" y="5472026"/>
            <a:ext cx="22578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09616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Client Side</a:t>
            </a:r>
          </a:p>
        </p:txBody>
      </p:sp>
      <p:pic>
        <p:nvPicPr>
          <p:cNvPr id="8" name="Picture 7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206C3034-91F7-63ED-CDA7-80B85FEFFC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8966" y="1690688"/>
            <a:ext cx="3492062" cy="3492062"/>
          </a:xfrm>
          <a:prstGeom prst="rect">
            <a:avLst/>
          </a:prstGeom>
        </p:spPr>
      </p:pic>
      <p:pic>
        <p:nvPicPr>
          <p:cNvPr id="10" name="Picture 9" descr="A qr code with a white background&#10;&#10;Description automatically generated">
            <a:extLst>
              <a:ext uri="{FF2B5EF4-FFF2-40B4-BE49-F238E27FC236}">
                <a16:creationId xmlns:a16="http://schemas.microsoft.com/office/drawing/2014/main" id="{BF07A189-6524-E3F7-DF46-9E63156EF8D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137" y="1690688"/>
            <a:ext cx="3492063" cy="349206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474EF10-96F1-53AD-12DA-411661B1060A}"/>
              </a:ext>
            </a:extLst>
          </p:cNvPr>
          <p:cNvSpPr txBox="1"/>
          <p:nvPr/>
        </p:nvSpPr>
        <p:spPr>
          <a:xfrm>
            <a:off x="1855212" y="6095867"/>
            <a:ext cx="24519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/>
              <a:t>qrco.de</a:t>
            </a:r>
            <a:r>
              <a:rPr lang="en-US" sz="2400" dirty="0"/>
              <a:t>/bgTN5Z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EAAAB6-6BDF-23B7-5C61-436B107F3765}"/>
              </a:ext>
            </a:extLst>
          </p:cNvPr>
          <p:cNvSpPr txBox="1"/>
          <p:nvPr/>
        </p:nvSpPr>
        <p:spPr>
          <a:xfrm>
            <a:off x="7089041" y="5995246"/>
            <a:ext cx="24519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qrco.de</a:t>
            </a:r>
            <a:r>
              <a:rPr lang="en-US" sz="2400" dirty="0"/>
              <a:t>/bgTN4o</a:t>
            </a:r>
          </a:p>
        </p:txBody>
      </p:sp>
    </p:spTree>
    <p:extLst>
      <p:ext uri="{BB962C8B-B14F-4D97-AF65-F5344CB8AC3E}">
        <p14:creationId xmlns:p14="http://schemas.microsoft.com/office/powerpoint/2010/main" val="30650805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270FC-0843-092B-A0FD-8FDE0A94D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0961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What is our goal? </a:t>
            </a:r>
            <a:endParaRPr lang="en-US" dirty="0">
              <a:solidFill>
                <a:srgbClr val="484137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6C7DA-FF9D-A2F7-6E77-9CE45D1718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Frontend vs. Backend</a:t>
            </a:r>
            <a:br>
              <a:rPr lang="en-US" dirty="0"/>
            </a:br>
            <a:r>
              <a:rPr lang="en-US" dirty="0"/>
              <a:t>What’s the difference between what users </a:t>
            </a:r>
            <a:r>
              <a:rPr lang="en-US" i="1" dirty="0"/>
              <a:t>see</a:t>
            </a:r>
            <a:r>
              <a:rPr lang="en-US" dirty="0"/>
              <a:t> and what happens </a:t>
            </a:r>
            <a:r>
              <a:rPr lang="en-US" i="1" dirty="0"/>
              <a:t>behind the scenes</a:t>
            </a:r>
            <a:r>
              <a:rPr lang="en-US" dirty="0"/>
              <a:t>?</a:t>
            </a:r>
          </a:p>
          <a:p>
            <a:r>
              <a:rPr lang="en-US" b="1" dirty="0"/>
              <a:t>Communication</a:t>
            </a:r>
            <a:br>
              <a:rPr lang="en-US" dirty="0"/>
            </a:br>
            <a:r>
              <a:rPr lang="en-US" dirty="0"/>
              <a:t>How does the frontend talk to the backend and what role do APIs play in that interaction?</a:t>
            </a:r>
          </a:p>
          <a:p>
            <a:r>
              <a:rPr lang="en-US" b="1" dirty="0"/>
              <a:t>Data Handling</a:t>
            </a:r>
            <a:br>
              <a:rPr lang="en-US" dirty="0"/>
            </a:br>
            <a:r>
              <a:rPr lang="en-US" dirty="0"/>
              <a:t>Where is data stored, and how do we retrieve or modify it efficiently?</a:t>
            </a:r>
          </a:p>
          <a:p>
            <a:r>
              <a:rPr lang="en-US" b="1" dirty="0"/>
              <a:t>Authentication &amp; Authorization</a:t>
            </a:r>
            <a:br>
              <a:rPr lang="en-US" dirty="0"/>
            </a:br>
            <a:r>
              <a:rPr lang="en-US" dirty="0"/>
              <a:t>How do we ensure users are who they say they are, and how do we control what they can access?</a:t>
            </a:r>
          </a:p>
        </p:txBody>
      </p:sp>
      <p:pic>
        <p:nvPicPr>
          <p:cNvPr id="4" name="Content Placeholder 4" descr="A cartoon of a cat with a computer chip&#10;&#10;Description automatically generated">
            <a:extLst>
              <a:ext uri="{FF2B5EF4-FFF2-40B4-BE49-F238E27FC236}">
                <a16:creationId xmlns:a16="http://schemas.microsoft.com/office/drawing/2014/main" id="{A7E17557-3314-E1C8-FA10-74D0B193FF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883" b="89987" l="7218" r="96653">
                        <a14:foregroundMark x1="10251" y1="79324" x2="10565" y2="70611"/>
                        <a14:foregroundMark x1="7322" y1="68270" x2="7845" y2="71131"/>
                        <a14:foregroundMark x1="20607" y1="89337" x2="20397" y2="88036"/>
                        <a14:foregroundMark x1="23431" y1="89597" x2="35042" y2="89987"/>
                        <a14:foregroundMark x1="91004" y1="49805" x2="96653" y2="40182"/>
                        <a14:foregroundMark x1="7322" y1="71131" x2="8368" y2="58648"/>
                        <a14:backgroundMark x1="9310" y1="52926" x2="4393" y2="6020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2497" y="365125"/>
            <a:ext cx="1647904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7930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76040-D62C-2BBB-DABA-7659CFED0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0961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What is the frontend? (Client-Side)</a:t>
            </a:r>
            <a:endParaRPr lang="en-US" dirty="0">
              <a:solidFill>
                <a:srgbClr val="484137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968E7-ECF5-B1B0-364E-E2398B74D3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The visual part of the application that users interact with directly.</a:t>
            </a:r>
            <a:br>
              <a:rPr lang="en-US" dirty="0"/>
            </a:br>
            <a:endParaRPr lang="en-US" dirty="0"/>
          </a:p>
          <a:p>
            <a:r>
              <a:rPr lang="en-US" i="1" dirty="0"/>
              <a:t>Where it lives</a:t>
            </a:r>
            <a:r>
              <a:rPr lang="en-US" dirty="0"/>
              <a:t>: It runs in your web browser (Chrome, Safari, Firefox).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The "Holy Trinity" of frontend code:</a:t>
            </a:r>
          </a:p>
          <a:p>
            <a:pPr lvl="1"/>
            <a:r>
              <a:rPr lang="en-US" b="1" dirty="0"/>
              <a:t>HTML:</a:t>
            </a:r>
            <a:r>
              <a:rPr lang="en-US" dirty="0"/>
              <a:t> The Structure (Skeleton).</a:t>
            </a:r>
          </a:p>
          <a:p>
            <a:pPr lvl="1"/>
            <a:r>
              <a:rPr lang="en-US" b="1" dirty="0"/>
              <a:t>CSS:</a:t>
            </a:r>
            <a:r>
              <a:rPr lang="en-US" dirty="0"/>
              <a:t> The Style (Skin/Clothing).</a:t>
            </a:r>
          </a:p>
          <a:p>
            <a:pPr lvl="1"/>
            <a:r>
              <a:rPr lang="en-US" b="1" dirty="0"/>
              <a:t>JavaScript:</a:t>
            </a:r>
            <a:r>
              <a:rPr lang="en-US" dirty="0"/>
              <a:t> The Logic (Muscles/Movement)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6" name="Content Placeholder 4" descr="A cartoon of a cat with a computer chip&#10;&#10;Description automatically generated">
            <a:extLst>
              <a:ext uri="{FF2B5EF4-FFF2-40B4-BE49-F238E27FC236}">
                <a16:creationId xmlns:a16="http://schemas.microsoft.com/office/drawing/2014/main" id="{FABB7524-A3AC-0FB3-2795-A60044B196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883" b="89987" l="7218" r="96653">
                        <a14:foregroundMark x1="10251" y1="79324" x2="10565" y2="70611"/>
                        <a14:foregroundMark x1="7322" y1="68270" x2="7845" y2="71131"/>
                        <a14:foregroundMark x1="20607" y1="89337" x2="20397" y2="88036"/>
                        <a14:foregroundMark x1="23431" y1="89597" x2="35042" y2="89987"/>
                        <a14:foregroundMark x1="91004" y1="49805" x2="96653" y2="40182"/>
                        <a14:foregroundMark x1="7322" y1="71131" x2="8368" y2="58648"/>
                        <a14:backgroundMark x1="9310" y1="52926" x2="4393" y2="6020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9848" y="230188"/>
            <a:ext cx="1647904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136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76040-D62C-2BBB-DABA-7659CFED0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0961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Client-Side*</a:t>
            </a:r>
            <a:endParaRPr lang="en-US" dirty="0">
              <a:solidFill>
                <a:srgbClr val="484137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968E7-ECF5-B1B0-364E-E2398B74D3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240" y="1690688"/>
            <a:ext cx="10957560" cy="4881563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sz="2800" dirty="0"/>
              <a:t>The "Client-Side" refers to anything that runs on the user's device.</a:t>
            </a:r>
          </a:p>
          <a:p>
            <a:pPr marL="457200" lvl="1" indent="0">
              <a:buNone/>
            </a:pPr>
            <a:endParaRPr lang="en-US" sz="2800" b="1" dirty="0"/>
          </a:p>
          <a:p>
            <a:pPr marL="457200" lvl="1" indent="0">
              <a:buNone/>
            </a:pPr>
            <a:r>
              <a:rPr lang="en-US" sz="2800" dirty="0"/>
              <a:t>For web development, the </a:t>
            </a:r>
            <a:r>
              <a:rPr lang="en-US" sz="2800" b="1" dirty="0"/>
              <a:t>Frontend (web browser)</a:t>
            </a:r>
            <a:r>
              <a:rPr lang="en-US" sz="2800" dirty="0"/>
              <a:t> is the most common example of a client-side application.</a:t>
            </a:r>
          </a:p>
          <a:p>
            <a:pPr lvl="1"/>
            <a:endParaRPr lang="en-US" sz="2800" dirty="0"/>
          </a:p>
          <a:p>
            <a:pPr marL="457200" lvl="1" indent="0">
              <a:buNone/>
            </a:pPr>
            <a:r>
              <a:rPr lang="en-US" sz="2800" dirty="0"/>
              <a:t>Beyond the Browser: client-side also includes other applications like:</a:t>
            </a:r>
          </a:p>
          <a:p>
            <a:pPr lvl="1"/>
            <a:r>
              <a:rPr lang="en-US" sz="2800" dirty="0"/>
              <a:t>Mobile Apps: (e.g., the Instagram app on your phone)</a:t>
            </a:r>
          </a:p>
          <a:p>
            <a:pPr lvl="1"/>
            <a:r>
              <a:rPr lang="en-US" sz="2800" dirty="0"/>
              <a:t>Desktop Apps: (e.g., Microsoft Word, or even Discord)</a:t>
            </a:r>
          </a:p>
          <a:p>
            <a:pPr lvl="1"/>
            <a:r>
              <a:rPr lang="en-US" sz="2800" dirty="0"/>
              <a:t>Other Devices: (e.g., smartwatches, smart TVs)</a:t>
            </a:r>
          </a:p>
          <a:p>
            <a:pPr lvl="1"/>
            <a:endParaRPr lang="en-US" sz="2800" dirty="0"/>
          </a:p>
        </p:txBody>
      </p:sp>
      <p:pic>
        <p:nvPicPr>
          <p:cNvPr id="6" name="Content Placeholder 4" descr="A cartoon of a cat with a computer chip&#10;&#10;Description automatically generated">
            <a:extLst>
              <a:ext uri="{FF2B5EF4-FFF2-40B4-BE49-F238E27FC236}">
                <a16:creationId xmlns:a16="http://schemas.microsoft.com/office/drawing/2014/main" id="{FABB7524-A3AC-0FB3-2795-A60044B196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883" b="89987" l="7218" r="96653">
                        <a14:foregroundMark x1="10251" y1="79324" x2="10565" y2="70611"/>
                        <a14:foregroundMark x1="7322" y1="68270" x2="7845" y2="71131"/>
                        <a14:foregroundMark x1="20607" y1="89337" x2="20397" y2="88036"/>
                        <a14:foregroundMark x1="23431" y1="89597" x2="35042" y2="89987"/>
                        <a14:foregroundMark x1="91004" y1="49805" x2="96653" y2="40182"/>
                        <a14:foregroundMark x1="7322" y1="71131" x2="8368" y2="58648"/>
                        <a14:backgroundMark x1="9310" y1="52926" x2="4393" y2="6020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9848" y="230188"/>
            <a:ext cx="1647904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195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76040-D62C-2BBB-DABA-7659CFED0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0961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Example of frontend - webapp</a:t>
            </a:r>
            <a:endParaRPr lang="en-US" dirty="0">
              <a:solidFill>
                <a:srgbClr val="484137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E18F58A3-9FB7-E16D-CC81-C7D4E70282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6098" y="1457325"/>
            <a:ext cx="6718502" cy="4351338"/>
          </a:xfrm>
        </p:spPr>
      </p:pic>
      <p:pic>
        <p:nvPicPr>
          <p:cNvPr id="6" name="Content Placeholder 4" descr="A cartoon of a cat with a computer chip&#10;&#10;Description automatically generated">
            <a:extLst>
              <a:ext uri="{FF2B5EF4-FFF2-40B4-BE49-F238E27FC236}">
                <a16:creationId xmlns:a16="http://schemas.microsoft.com/office/drawing/2014/main" id="{FABB7524-A3AC-0FB3-2795-A60044B196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883" b="89987" l="7218" r="96653">
                        <a14:foregroundMark x1="10251" y1="79324" x2="10565" y2="70611"/>
                        <a14:foregroundMark x1="7322" y1="68270" x2="7845" y2="71131"/>
                        <a14:foregroundMark x1="20607" y1="89337" x2="20397" y2="88036"/>
                        <a14:foregroundMark x1="23431" y1="89597" x2="35042" y2="89987"/>
                        <a14:foregroundMark x1="91004" y1="49805" x2="96653" y2="40182"/>
                        <a14:foregroundMark x1="7322" y1="71131" x2="8368" y2="58648"/>
                        <a14:backgroundMark x1="9310" y1="52926" x2="4393" y2="6020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2497" y="365125"/>
            <a:ext cx="1647904" cy="132556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01EA4E1-2E14-DCB6-2B0B-C629C1DCB402}"/>
              </a:ext>
            </a:extLst>
          </p:cNvPr>
          <p:cNvSpPr txBox="1"/>
          <p:nvPr/>
        </p:nvSpPr>
        <p:spPr>
          <a:xfrm>
            <a:off x="838200" y="6031210"/>
            <a:ext cx="9537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Common Frameworks : Angular, React, </a:t>
            </a:r>
            <a:r>
              <a:rPr lang="en-US" sz="2400" dirty="0" err="1"/>
              <a:t>Vue.js</a:t>
            </a:r>
            <a:r>
              <a:rPr lang="en-US" sz="2400" dirty="0"/>
              <a:t>, Svelte</a:t>
            </a:r>
          </a:p>
        </p:txBody>
      </p:sp>
    </p:spTree>
    <p:extLst>
      <p:ext uri="{BB962C8B-B14F-4D97-AF65-F5344CB8AC3E}">
        <p14:creationId xmlns:p14="http://schemas.microsoft.com/office/powerpoint/2010/main" val="13063942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76040-D62C-2BBB-DABA-7659CFED0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683240" cy="1325563"/>
          </a:xfrm>
        </p:spPr>
        <p:txBody>
          <a:bodyPr/>
          <a:lstStyle/>
          <a:p>
            <a:r>
              <a:rPr lang="en-US" dirty="0">
                <a:solidFill>
                  <a:srgbClr val="F0961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What is an API? (Application Programming Interface)</a:t>
            </a:r>
            <a:endParaRPr lang="en-US" dirty="0">
              <a:solidFill>
                <a:srgbClr val="484137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968E7-ECF5-B1B0-364E-E2398B74D3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2930"/>
            <a:ext cx="10515600" cy="4351338"/>
          </a:xfrm>
        </p:spPr>
        <p:txBody>
          <a:bodyPr>
            <a:noAutofit/>
          </a:bodyPr>
          <a:lstStyle/>
          <a:p>
            <a:r>
              <a:rPr lang="en-US" b="1" dirty="0"/>
              <a:t>Definition: </a:t>
            </a:r>
            <a:r>
              <a:rPr lang="en-US" dirty="0"/>
              <a:t>An API is a set of rules (a contract) that allows two different software programs (a Client and a Server) to talk to each other securely</a:t>
            </a:r>
          </a:p>
          <a:p>
            <a:r>
              <a:rPr lang="en-US" b="1" dirty="0"/>
              <a:t>The Interface:</a:t>
            </a:r>
            <a:r>
              <a:rPr lang="en-US" dirty="0"/>
              <a:t> The API only shows the </a:t>
            </a:r>
            <a:r>
              <a:rPr lang="en-US" i="1" dirty="0"/>
              <a:t>names</a:t>
            </a:r>
            <a:r>
              <a:rPr lang="en-US" dirty="0"/>
              <a:t> of functions and the parameters (inputs) they need. </a:t>
            </a:r>
            <a:r>
              <a:rPr lang="en-US" b="1" dirty="0"/>
              <a:t>It does not expose the actual code or logic</a:t>
            </a:r>
            <a:r>
              <a:rPr lang="en-US" dirty="0"/>
              <a:t>—it only shows </a:t>
            </a:r>
            <a:r>
              <a:rPr lang="en-US" i="1" dirty="0"/>
              <a:t>what</a:t>
            </a:r>
            <a:r>
              <a:rPr lang="en-US" dirty="0"/>
              <a:t> you can ask for.</a:t>
            </a:r>
          </a:p>
          <a:p>
            <a:r>
              <a:rPr lang="en-US" b="1" dirty="0"/>
              <a:t>The Server:</a:t>
            </a:r>
            <a:r>
              <a:rPr lang="en-US" dirty="0"/>
              <a:t> The machine that provides the API and contains all the secret implementation logic is called the </a:t>
            </a:r>
            <a:r>
              <a:rPr lang="en-US" b="1" dirty="0"/>
              <a:t>Server</a:t>
            </a:r>
            <a:r>
              <a:rPr lang="en-US" dirty="0"/>
              <a:t>.</a:t>
            </a:r>
          </a:p>
          <a:p>
            <a:r>
              <a:rPr lang="en-US" b="1" dirty="0"/>
              <a:t>The Client:</a:t>
            </a:r>
            <a:r>
              <a:rPr lang="en-US" dirty="0"/>
              <a:t> The machine (like your phone or browser) that calls those APIs to get data or perform actions is called the </a:t>
            </a:r>
            <a:r>
              <a:rPr lang="en-US" b="1" dirty="0"/>
              <a:t>Client</a:t>
            </a:r>
            <a:r>
              <a:rPr lang="en-US" dirty="0"/>
              <a:t>.</a:t>
            </a:r>
          </a:p>
        </p:txBody>
      </p:sp>
      <p:pic>
        <p:nvPicPr>
          <p:cNvPr id="6" name="Content Placeholder 4" descr="A cartoon of a cat with a computer chip&#10;&#10;Description automatically generated">
            <a:extLst>
              <a:ext uri="{FF2B5EF4-FFF2-40B4-BE49-F238E27FC236}">
                <a16:creationId xmlns:a16="http://schemas.microsoft.com/office/drawing/2014/main" id="{FABB7524-A3AC-0FB3-2795-A60044B196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883" b="89987" l="7218" r="96653">
                        <a14:foregroundMark x1="10251" y1="79324" x2="10565" y2="70611"/>
                        <a14:foregroundMark x1="7322" y1="68270" x2="7845" y2="71131"/>
                        <a14:foregroundMark x1="20607" y1="89337" x2="20397" y2="88036"/>
                        <a14:foregroundMark x1="23431" y1="89597" x2="35042" y2="89987"/>
                        <a14:foregroundMark x1="91004" y1="49805" x2="96653" y2="40182"/>
                        <a14:foregroundMark x1="7322" y1="71131" x2="8368" y2="58648"/>
                        <a14:backgroundMark x1="9310" y1="52926" x2="4393" y2="6020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9848" y="230186"/>
            <a:ext cx="1647904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6114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76040-D62C-2BBB-DABA-7659CFED0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F0961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To-Do List App: API Design</a:t>
            </a:r>
            <a:endParaRPr lang="en-US" dirty="0">
              <a:solidFill>
                <a:srgbClr val="484137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968E7-ECF5-B1B0-364E-E2398B74D3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828" y="1598008"/>
            <a:ext cx="9691648" cy="5259992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b="1" dirty="0"/>
              <a:t>Technical Requirement:</a:t>
            </a:r>
            <a:r>
              <a:rPr lang="en-US" dirty="0"/>
              <a:t> Create an app where users can create/edit/delete to-do items.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For User:</a:t>
            </a:r>
          </a:p>
          <a:p>
            <a:pPr marL="457200" lvl="1" indent="0">
              <a:buNone/>
            </a:pPr>
            <a:r>
              <a:rPr lang="en-US" b="1" dirty="0"/>
              <a:t>Register</a:t>
            </a:r>
            <a:r>
              <a:rPr lang="en-US" dirty="0"/>
              <a:t>(password, username)</a:t>
            </a:r>
          </a:p>
          <a:p>
            <a:pPr marL="457200" lvl="1" indent="0">
              <a:buNone/>
            </a:pPr>
            <a:r>
              <a:rPr lang="en-US" b="1" dirty="0"/>
              <a:t>Login</a:t>
            </a:r>
            <a:r>
              <a:rPr lang="en-US" dirty="0"/>
              <a:t>(password, username)</a:t>
            </a:r>
          </a:p>
          <a:p>
            <a:pPr marL="457200" lvl="1" indent="0">
              <a:buNone/>
            </a:pPr>
            <a:br>
              <a:rPr lang="en-US" dirty="0"/>
            </a:br>
            <a:r>
              <a:rPr lang="en-US" dirty="0"/>
              <a:t>For To-Do Items:</a:t>
            </a:r>
          </a:p>
          <a:p>
            <a:pPr marL="457200" lvl="1" indent="0">
              <a:buNone/>
            </a:pPr>
            <a:r>
              <a:rPr lang="en-US" b="1" dirty="0" err="1"/>
              <a:t>CreateToDoItem</a:t>
            </a:r>
            <a:r>
              <a:rPr lang="en-US" dirty="0"/>
              <a:t>(item, user) return item</a:t>
            </a:r>
          </a:p>
          <a:p>
            <a:pPr marL="457200" lvl="1" indent="0">
              <a:buNone/>
            </a:pPr>
            <a:r>
              <a:rPr lang="en-US" b="1" dirty="0" err="1"/>
              <a:t>GetToDoItems</a:t>
            </a:r>
            <a:r>
              <a:rPr lang="en-US" dirty="0"/>
              <a:t>(user) return []items</a:t>
            </a:r>
          </a:p>
          <a:p>
            <a:pPr marL="457200" lvl="1" indent="0">
              <a:buNone/>
            </a:pPr>
            <a:r>
              <a:rPr lang="en-US" b="1" dirty="0" err="1"/>
              <a:t>EditToDoItem</a:t>
            </a:r>
            <a:r>
              <a:rPr lang="en-US" dirty="0"/>
              <a:t>(</a:t>
            </a:r>
            <a:r>
              <a:rPr lang="en-US" dirty="0" err="1"/>
              <a:t>item_old</a:t>
            </a:r>
            <a:r>
              <a:rPr lang="en-US" dirty="0"/>
              <a:t>, </a:t>
            </a:r>
            <a:r>
              <a:rPr lang="en-US" dirty="0" err="1"/>
              <a:t>item_new</a:t>
            </a:r>
            <a:r>
              <a:rPr lang="en-US" dirty="0"/>
              <a:t>) return </a:t>
            </a:r>
            <a:r>
              <a:rPr lang="en-US" dirty="0" err="1"/>
              <a:t>new_item</a:t>
            </a:r>
            <a:endParaRPr lang="en-US" dirty="0"/>
          </a:p>
          <a:p>
            <a:pPr marL="457200" lvl="1" indent="0">
              <a:buNone/>
            </a:pPr>
            <a:r>
              <a:rPr lang="en-US" b="1" dirty="0" err="1"/>
              <a:t>DeleteToDoItem</a:t>
            </a:r>
            <a:r>
              <a:rPr lang="en-US" dirty="0"/>
              <a:t>(item) return item</a:t>
            </a:r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6" name="Content Placeholder 4" descr="A cartoon of a cat with a computer chip&#10;&#10;Description automatically generated">
            <a:extLst>
              <a:ext uri="{FF2B5EF4-FFF2-40B4-BE49-F238E27FC236}">
                <a16:creationId xmlns:a16="http://schemas.microsoft.com/office/drawing/2014/main" id="{FABB7524-A3AC-0FB3-2795-A60044B196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883" b="89987" l="7218" r="96653">
                        <a14:foregroundMark x1="10251" y1="79324" x2="10565" y2="70611"/>
                        <a14:foregroundMark x1="7322" y1="68270" x2="7845" y2="71131"/>
                        <a14:foregroundMark x1="20607" y1="89337" x2="20397" y2="88036"/>
                        <a14:foregroundMark x1="23431" y1="89597" x2="35042" y2="89987"/>
                        <a14:foregroundMark x1="91004" y1="49805" x2="96653" y2="40182"/>
                        <a14:foregroundMark x1="7322" y1="71131" x2="8368" y2="58648"/>
                        <a14:backgroundMark x1="9310" y1="52926" x2="4393" y2="6020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9848" y="230186"/>
            <a:ext cx="1647904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1422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1CAE4-7F59-1032-B7C4-8A61F35C7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018" y="230187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0961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REST API: The Rules of the Conversation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40660-5C81-ECE2-A3E2-6ABD2D1529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1978"/>
            <a:ext cx="10515600" cy="5271211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3300" dirty="0"/>
              <a:t>Definition: an </a:t>
            </a:r>
            <a:r>
              <a:rPr lang="en-US" sz="3300" b="1" dirty="0"/>
              <a:t>architectural style</a:t>
            </a:r>
            <a:r>
              <a:rPr lang="en-US" sz="3300" dirty="0"/>
              <a:t> (a set of design rules) that specifies how two computer systems (Client and Server) should talk to each other over the internet.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3100" b="1" dirty="0"/>
              <a:t>Key Principles of REST</a:t>
            </a:r>
          </a:p>
          <a:p>
            <a:r>
              <a:rPr lang="en-US" sz="3100" b="1" dirty="0"/>
              <a:t>Client–Server:</a:t>
            </a:r>
            <a:r>
              <a:rPr lang="en-US" sz="3100" dirty="0"/>
              <a:t> The user interface (Frontend/Client) is kept separate from the data storage and logic (Backend/Server).</a:t>
            </a:r>
            <a:endParaRPr lang="en-US" sz="3100" b="1" dirty="0"/>
          </a:p>
          <a:p>
            <a:r>
              <a:rPr lang="en-US" sz="3100" dirty="0"/>
              <a:t>Uniform Interface (Resources):</a:t>
            </a:r>
            <a:r>
              <a:rPr lang="en-US" sz="3100" b="1" dirty="0"/>
              <a:t> </a:t>
            </a:r>
            <a:r>
              <a:rPr lang="en-US" sz="3100" dirty="0"/>
              <a:t>Every piece of data is treated as a </a:t>
            </a:r>
            <a:r>
              <a:rPr lang="en-US" sz="3100" b="1" dirty="0"/>
              <a:t>Resource. </a:t>
            </a:r>
            <a:r>
              <a:rPr lang="en-US" sz="3100" dirty="0"/>
              <a:t>Each resource is identified by a unique </a:t>
            </a:r>
            <a:r>
              <a:rPr lang="en-US" sz="3100" b="1" dirty="0"/>
              <a:t>URL. </a:t>
            </a:r>
            <a:r>
              <a:rPr lang="en-US" sz="3100" i="1" dirty="0"/>
              <a:t>Example URL:</a:t>
            </a:r>
            <a:r>
              <a:rPr lang="en-US" sz="3100" dirty="0"/>
              <a:t> /</a:t>
            </a:r>
            <a:r>
              <a:rPr lang="en-US" sz="3100" dirty="0" err="1"/>
              <a:t>todo</a:t>
            </a:r>
            <a:r>
              <a:rPr lang="en-US" sz="3100" dirty="0"/>
              <a:t>-items or /users</a:t>
            </a:r>
          </a:p>
          <a:p>
            <a:r>
              <a:rPr lang="en-US" sz="3100" b="1" dirty="0"/>
              <a:t>Relies on HTTP/HTTPS:</a:t>
            </a:r>
            <a:r>
              <a:rPr lang="en-US" sz="3100" dirty="0"/>
              <a:t> REST APIs use the standard communication protocol of the web (HTTP) and rely on its features, like specific methods and status codes</a:t>
            </a:r>
          </a:p>
          <a:p>
            <a:r>
              <a:rPr lang="en-US" sz="3100" b="1" dirty="0"/>
              <a:t>Representations (Data Format):</a:t>
            </a:r>
            <a:r>
              <a:rPr lang="en-US" sz="3100" dirty="0"/>
              <a:t> Data is sent back and forth between the Client and Server using common, machine-readable formats, most often </a:t>
            </a:r>
            <a:r>
              <a:rPr lang="en-US" sz="3100" b="1" dirty="0"/>
              <a:t>JSON</a:t>
            </a:r>
            <a:r>
              <a:rPr lang="en-US" sz="3100" dirty="0"/>
              <a:t> (JavaScript Object Notation), because it is lightweight and easy for web browsers to process.</a:t>
            </a:r>
          </a:p>
        </p:txBody>
      </p:sp>
      <p:pic>
        <p:nvPicPr>
          <p:cNvPr id="4" name="Content Placeholder 4" descr="A cartoon of a cat with a computer chip&#10;&#10;Description automatically generated">
            <a:extLst>
              <a:ext uri="{FF2B5EF4-FFF2-40B4-BE49-F238E27FC236}">
                <a16:creationId xmlns:a16="http://schemas.microsoft.com/office/drawing/2014/main" id="{4F4B1B11-64A3-943A-B712-A81F65198F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883" b="89987" l="7218" r="96653">
                        <a14:foregroundMark x1="10251" y1="79324" x2="10565" y2="70611"/>
                        <a14:foregroundMark x1="7322" y1="68270" x2="7845" y2="71131"/>
                        <a14:foregroundMark x1="20607" y1="89337" x2="20397" y2="88036"/>
                        <a14:foregroundMark x1="23431" y1="89597" x2="35042" y2="89987"/>
                        <a14:foregroundMark x1="91004" y1="49805" x2="96653" y2="40182"/>
                        <a14:foregroundMark x1="7322" y1="71131" x2="8368" y2="58648"/>
                        <a14:backgroundMark x1="9310" y1="52926" x2="4393" y2="6020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9030" y="0"/>
            <a:ext cx="1647904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5679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1CAE4-7F59-1032-B7C4-8A61F35C7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0961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HTTP Methods: GET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40660-5C81-ECE2-A3E2-6ABD2D1529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80000"/>
              </a:lnSpc>
              <a:buNone/>
            </a:pPr>
            <a:r>
              <a:rPr lang="en-US" sz="2600" dirty="0"/>
              <a:t>Used to </a:t>
            </a:r>
            <a:r>
              <a:rPr lang="en-US" sz="2600" b="1" dirty="0"/>
              <a:t>retrieve</a:t>
            </a:r>
            <a:r>
              <a:rPr lang="en-US" sz="2600" dirty="0"/>
              <a:t> data from the server.</a:t>
            </a:r>
          </a:p>
          <a:p>
            <a:pPr marL="0" indent="0">
              <a:lnSpc>
                <a:spcPct val="80000"/>
              </a:lnSpc>
              <a:buNone/>
            </a:pPr>
            <a:br>
              <a:rPr lang="en-US" sz="2600" dirty="0"/>
            </a:br>
            <a:r>
              <a:rPr lang="en-US" dirty="0"/>
              <a:t>Mapping: </a:t>
            </a:r>
            <a:r>
              <a:rPr lang="en-US" dirty="0" err="1"/>
              <a:t>GetToDoItems</a:t>
            </a:r>
            <a:r>
              <a:rPr lang="en-US" dirty="0"/>
              <a:t>(</a:t>
            </a:r>
            <a:r>
              <a:rPr lang="en-US" dirty="0" err="1"/>
              <a:t>current_user</a:t>
            </a:r>
            <a:r>
              <a:rPr lang="en-US" dirty="0"/>
              <a:t>) → </a:t>
            </a:r>
            <a:r>
              <a:rPr lang="en-US" dirty="0">
                <a:highlight>
                  <a:srgbClr val="FFFF00"/>
                </a:highlight>
              </a:rPr>
              <a:t>GET /</a:t>
            </a:r>
            <a:r>
              <a:rPr lang="en-US" dirty="0" err="1">
                <a:highlight>
                  <a:srgbClr val="FFFF00"/>
                </a:highlight>
              </a:rPr>
              <a:t>todo</a:t>
            </a:r>
            <a:r>
              <a:rPr lang="en-US" dirty="0">
                <a:highlight>
                  <a:srgbClr val="FFFF00"/>
                </a:highlight>
              </a:rPr>
              <a:t>-items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We use Query Parameters in the URL to filter results.</a:t>
            </a:r>
          </a:p>
          <a:p>
            <a:pPr marL="0" indent="0">
              <a:buNone/>
            </a:pPr>
            <a:r>
              <a:rPr lang="en-US" dirty="0"/>
              <a:t>Mapping: </a:t>
            </a:r>
            <a:r>
              <a:rPr lang="en-US" dirty="0" err="1"/>
              <a:t>GetToDoItems</a:t>
            </a:r>
            <a:r>
              <a:rPr lang="en-US" dirty="0"/>
              <a:t>(user) → GET /</a:t>
            </a:r>
            <a:r>
              <a:rPr lang="en-US" dirty="0" err="1"/>
              <a:t>todo-items</a:t>
            </a:r>
            <a:r>
              <a:rPr lang="en-US" dirty="0" err="1">
                <a:highlight>
                  <a:srgbClr val="FFFF00"/>
                </a:highlight>
              </a:rPr>
              <a:t>?nickname</a:t>
            </a:r>
            <a:r>
              <a:rPr lang="en-US" dirty="0">
                <a:highlight>
                  <a:srgbClr val="FFFF00"/>
                </a:highlight>
              </a:rPr>
              <a:t>=</a:t>
            </a:r>
            <a:r>
              <a:rPr lang="en-US" dirty="0" err="1">
                <a:highlight>
                  <a:srgbClr val="FFFF00"/>
                </a:highlight>
              </a:rPr>
              <a:t>akmal</a:t>
            </a:r>
            <a:endParaRPr lang="en-US" dirty="0">
              <a:highlight>
                <a:srgbClr val="FFFF00"/>
              </a:highlight>
            </a:endParaRP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Content Placeholder 4" descr="A cartoon of a cat with a computer chip&#10;&#10;Description automatically generated">
            <a:extLst>
              <a:ext uri="{FF2B5EF4-FFF2-40B4-BE49-F238E27FC236}">
                <a16:creationId xmlns:a16="http://schemas.microsoft.com/office/drawing/2014/main" id="{4F4B1B11-64A3-943A-B712-A81F65198F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883" b="89987" l="7218" r="96653">
                        <a14:foregroundMark x1="10251" y1="79324" x2="10565" y2="70611"/>
                        <a14:foregroundMark x1="7322" y1="68270" x2="7845" y2="71131"/>
                        <a14:foregroundMark x1="20607" y1="89337" x2="20397" y2="88036"/>
                        <a14:foregroundMark x1="23431" y1="89597" x2="35042" y2="89987"/>
                        <a14:foregroundMark x1="91004" y1="49805" x2="96653" y2="40182"/>
                        <a14:foregroundMark x1="7322" y1="71131" x2="8368" y2="58648"/>
                        <a14:backgroundMark x1="9310" y1="52926" x2="4393" y2="6020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2497" y="365125"/>
            <a:ext cx="1647904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8952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1CAE4-7F59-1032-B7C4-8A61F35C7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0961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HTTP Methods: POST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40660-5C81-ECE2-A3E2-6ABD2D1529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Used to create new data entries.</a:t>
            </a:r>
          </a:p>
          <a:p>
            <a:pPr marL="0" indent="0">
              <a:buNone/>
            </a:pPr>
            <a:r>
              <a:rPr lang="en-US" dirty="0"/>
              <a:t>Mapping: </a:t>
            </a:r>
            <a:r>
              <a:rPr lang="en-US" dirty="0" err="1"/>
              <a:t>CreateToDoItem</a:t>
            </a:r>
            <a:r>
              <a:rPr lang="en-US" dirty="0"/>
              <a:t>(item) →</a:t>
            </a:r>
            <a:r>
              <a:rPr lang="en-US" dirty="0">
                <a:highlight>
                  <a:srgbClr val="FFFF00"/>
                </a:highlight>
              </a:rPr>
              <a:t> POST /</a:t>
            </a:r>
            <a:r>
              <a:rPr lang="en-US" dirty="0" err="1">
                <a:highlight>
                  <a:srgbClr val="FFFF00"/>
                </a:highlight>
              </a:rPr>
              <a:t>todo</a:t>
            </a:r>
            <a:r>
              <a:rPr lang="en-US" dirty="0">
                <a:highlight>
                  <a:srgbClr val="FFFF00"/>
                </a:highlight>
              </a:rPr>
              <a:t>-items</a:t>
            </a:r>
          </a:p>
          <a:p>
            <a:pPr marL="0" indent="0">
              <a:buNone/>
            </a:pPr>
            <a:r>
              <a:rPr lang="en-US" dirty="0"/>
              <a:t>Unlike GET, we don't put the data in the URL.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Data is sent securely in the Request Body (usually as JSON).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pic>
        <p:nvPicPr>
          <p:cNvPr id="4" name="Content Placeholder 4" descr="A cartoon of a cat with a computer chip&#10;&#10;Description automatically generated">
            <a:extLst>
              <a:ext uri="{FF2B5EF4-FFF2-40B4-BE49-F238E27FC236}">
                <a16:creationId xmlns:a16="http://schemas.microsoft.com/office/drawing/2014/main" id="{4F4B1B11-64A3-943A-B712-A81F65198F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883" b="89987" l="7218" r="96653">
                        <a14:foregroundMark x1="10251" y1="79324" x2="10565" y2="70611"/>
                        <a14:foregroundMark x1="7322" y1="68270" x2="7845" y2="71131"/>
                        <a14:foregroundMark x1="20607" y1="89337" x2="20397" y2="88036"/>
                        <a14:foregroundMark x1="23431" y1="89597" x2="35042" y2="89987"/>
                        <a14:foregroundMark x1="91004" y1="49805" x2="96653" y2="40182"/>
                        <a14:foregroundMark x1="7322" y1="71131" x2="8368" y2="58648"/>
                        <a14:backgroundMark x1="9310" y1="52926" x2="4393" y2="6020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2497" y="365125"/>
            <a:ext cx="1647904" cy="1325563"/>
          </a:xfrm>
          <a:prstGeom prst="rect">
            <a:avLst/>
          </a:prstGeom>
        </p:spPr>
      </p:pic>
      <p:pic>
        <p:nvPicPr>
          <p:cNvPr id="6" name="Picture 5" descr="A computer code with green text&#10;&#10;Description automatically generated">
            <a:extLst>
              <a:ext uri="{FF2B5EF4-FFF2-40B4-BE49-F238E27FC236}">
                <a16:creationId xmlns:a16="http://schemas.microsoft.com/office/drawing/2014/main" id="{6D11EF59-F955-BD6E-E8F8-C7AB244116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585364"/>
            <a:ext cx="7671066" cy="1907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0963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1CAE4-7F59-1032-B7C4-8A61F35C7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0961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HTTP Methods: PUT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40660-5C81-ECE2-A3E2-6ABD2D1529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Used to </a:t>
            </a:r>
            <a:r>
              <a:rPr lang="en-US" b="1" dirty="0"/>
              <a:t>update</a:t>
            </a:r>
            <a:r>
              <a:rPr lang="en-US" dirty="0"/>
              <a:t> an existing resource.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Mapping: </a:t>
            </a:r>
            <a:r>
              <a:rPr lang="en-US" b="1" dirty="0"/>
              <a:t> </a:t>
            </a:r>
          </a:p>
          <a:p>
            <a:pPr marL="0" indent="0">
              <a:buNone/>
            </a:pPr>
            <a:r>
              <a:rPr lang="en-US" b="1" dirty="0" err="1"/>
              <a:t>EditToDoItem</a:t>
            </a:r>
            <a:r>
              <a:rPr lang="en-US" dirty="0"/>
              <a:t>(</a:t>
            </a:r>
            <a:r>
              <a:rPr lang="en-US" dirty="0" err="1"/>
              <a:t>item_old</a:t>
            </a:r>
            <a:r>
              <a:rPr lang="en-US" dirty="0"/>
              <a:t>, </a:t>
            </a:r>
            <a:r>
              <a:rPr lang="en-US" dirty="0" err="1"/>
              <a:t>item_new</a:t>
            </a:r>
            <a:r>
              <a:rPr lang="en-US" dirty="0"/>
              <a:t>) → </a:t>
            </a:r>
            <a:r>
              <a:rPr lang="en-US" dirty="0">
                <a:highlight>
                  <a:srgbClr val="FFFF00"/>
                </a:highlight>
              </a:rPr>
              <a:t>PUT /</a:t>
            </a:r>
            <a:r>
              <a:rPr lang="en-US" dirty="0" err="1">
                <a:highlight>
                  <a:srgbClr val="FFFF00"/>
                </a:highlight>
              </a:rPr>
              <a:t>todo</a:t>
            </a:r>
            <a:r>
              <a:rPr lang="en-US" dirty="0">
                <a:highlight>
                  <a:srgbClr val="FFFF00"/>
                </a:highlight>
              </a:rPr>
              <a:t>-items/{id} </a:t>
            </a:r>
          </a:p>
          <a:p>
            <a:pPr marL="0" indent="0">
              <a:buNone/>
            </a:pPr>
            <a:r>
              <a:rPr lang="en-US" i="1" dirty="0"/>
              <a:t>*New/edited item is attached to the body of request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Key Requirement:</a:t>
            </a:r>
          </a:p>
          <a:p>
            <a:pPr marL="0" indent="0">
              <a:buNone/>
            </a:pPr>
            <a:r>
              <a:rPr lang="en-US" dirty="0"/>
              <a:t>We must specify which item we are updating.</a:t>
            </a:r>
          </a:p>
          <a:p>
            <a:pPr marL="0" indent="0">
              <a:buNone/>
            </a:pPr>
            <a:r>
              <a:rPr lang="en-US" dirty="0"/>
              <a:t>We use the Unique ID in the URL to target the item.</a:t>
            </a:r>
          </a:p>
        </p:txBody>
      </p:sp>
      <p:pic>
        <p:nvPicPr>
          <p:cNvPr id="4" name="Content Placeholder 4" descr="A cartoon of a cat with a computer chip&#10;&#10;Description automatically generated">
            <a:extLst>
              <a:ext uri="{FF2B5EF4-FFF2-40B4-BE49-F238E27FC236}">
                <a16:creationId xmlns:a16="http://schemas.microsoft.com/office/drawing/2014/main" id="{4F4B1B11-64A3-943A-B712-A81F65198F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883" b="89987" l="7218" r="96653">
                        <a14:foregroundMark x1="10251" y1="79324" x2="10565" y2="70611"/>
                        <a14:foregroundMark x1="7322" y1="68270" x2="7845" y2="71131"/>
                        <a14:foregroundMark x1="20607" y1="89337" x2="20397" y2="88036"/>
                        <a14:foregroundMark x1="23431" y1="89597" x2="35042" y2="89987"/>
                        <a14:foregroundMark x1="91004" y1="49805" x2="96653" y2="40182"/>
                        <a14:foregroundMark x1="7322" y1="71131" x2="8368" y2="58648"/>
                        <a14:backgroundMark x1="9310" y1="52926" x2="4393" y2="6020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2497" y="365125"/>
            <a:ext cx="1647904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2413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1CAE4-7F59-1032-B7C4-8A61F35C7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0961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HTTP Methods: DELETE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40660-5C81-ECE2-A3E2-6ABD2D1529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Used to </a:t>
            </a:r>
            <a:r>
              <a:rPr lang="en-US" b="1" dirty="0"/>
              <a:t>remove</a:t>
            </a:r>
            <a:r>
              <a:rPr lang="en-US" dirty="0"/>
              <a:t> a resource permanently.</a:t>
            </a:r>
          </a:p>
          <a:p>
            <a:pPr marL="0" indent="0">
              <a:buNone/>
            </a:pPr>
            <a:r>
              <a:rPr lang="en-US" dirty="0"/>
              <a:t>Mapping: </a:t>
            </a:r>
            <a:r>
              <a:rPr lang="en-US" dirty="0" err="1"/>
              <a:t>DeleteToDoItem</a:t>
            </a:r>
            <a:r>
              <a:rPr lang="en-US" dirty="0"/>
              <a:t>(item) →</a:t>
            </a:r>
            <a:r>
              <a:rPr lang="en-US" dirty="0">
                <a:highlight>
                  <a:srgbClr val="FFFF00"/>
                </a:highlight>
              </a:rPr>
              <a:t> DELETE /</a:t>
            </a:r>
            <a:r>
              <a:rPr lang="en-US" dirty="0" err="1">
                <a:highlight>
                  <a:srgbClr val="FFFF00"/>
                </a:highlight>
              </a:rPr>
              <a:t>todo</a:t>
            </a:r>
            <a:r>
              <a:rPr lang="en-US" dirty="0">
                <a:highlight>
                  <a:srgbClr val="FFFF00"/>
                </a:highlight>
              </a:rPr>
              <a:t>-items/{id}</a:t>
            </a:r>
          </a:p>
          <a:p>
            <a:pPr marL="0" indent="0">
              <a:buNone/>
            </a:pPr>
            <a:r>
              <a:rPr lang="en-US" dirty="0"/>
              <a:t>Like PUT, this is a targeted action.</a:t>
            </a:r>
          </a:p>
          <a:p>
            <a:pPr marL="0" indent="0">
              <a:buNone/>
            </a:pPr>
            <a:r>
              <a:rPr lang="en-US" dirty="0"/>
              <a:t>You must provide the ID of the item you want to destroy.</a:t>
            </a:r>
          </a:p>
        </p:txBody>
      </p:sp>
      <p:pic>
        <p:nvPicPr>
          <p:cNvPr id="4" name="Content Placeholder 4" descr="A cartoon of a cat with a computer chip&#10;&#10;Description automatically generated">
            <a:extLst>
              <a:ext uri="{FF2B5EF4-FFF2-40B4-BE49-F238E27FC236}">
                <a16:creationId xmlns:a16="http://schemas.microsoft.com/office/drawing/2014/main" id="{4F4B1B11-64A3-943A-B712-A81F65198F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883" b="89987" l="7218" r="96653">
                        <a14:foregroundMark x1="10251" y1="79324" x2="10565" y2="70611"/>
                        <a14:foregroundMark x1="7322" y1="68270" x2="7845" y2="71131"/>
                        <a14:foregroundMark x1="20607" y1="89337" x2="20397" y2="88036"/>
                        <a14:foregroundMark x1="23431" y1="89597" x2="35042" y2="89987"/>
                        <a14:foregroundMark x1="91004" y1="49805" x2="96653" y2="40182"/>
                        <a14:foregroundMark x1="7322" y1="71131" x2="8368" y2="58648"/>
                        <a14:backgroundMark x1="9310" y1="52926" x2="4393" y2="6020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2497" y="365125"/>
            <a:ext cx="1647904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7555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1CAE4-7F59-1032-B7C4-8A61F35C7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0961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HTTP Status Codes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40660-5C81-ECE2-A3E2-6ABD2D1529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2xx : “</a:t>
            </a:r>
            <a:r>
              <a:rPr lang="en-US" b="1" dirty="0"/>
              <a:t>It worked!” </a:t>
            </a:r>
            <a:r>
              <a:rPr lang="en-US" dirty="0"/>
              <a:t>The request was received, understood, and accepted. Success</a:t>
            </a:r>
          </a:p>
          <a:p>
            <a:pPr marL="0" indent="0">
              <a:buNone/>
            </a:pPr>
            <a:r>
              <a:rPr lang="en-US" dirty="0"/>
              <a:t>3xx : </a:t>
            </a:r>
            <a:r>
              <a:rPr lang="en-US" b="1" dirty="0"/>
              <a:t>“Go over there.” </a:t>
            </a:r>
            <a:r>
              <a:rPr lang="en-US" dirty="0"/>
              <a:t>Further action needs to be taken to complete the request (e.g., the page moved). Redirection</a:t>
            </a:r>
          </a:p>
          <a:p>
            <a:pPr marL="0" indent="0">
              <a:buNone/>
            </a:pPr>
            <a:r>
              <a:rPr lang="en-US" dirty="0"/>
              <a:t>4xx : </a:t>
            </a:r>
            <a:r>
              <a:rPr lang="en-US" b="1" dirty="0"/>
              <a:t>“You messed up.” </a:t>
            </a:r>
            <a:r>
              <a:rPr lang="en-US" dirty="0"/>
              <a:t>The request contains bad syntax or cannot be fulfilled (e.g., typo, bad password). Client Error</a:t>
            </a:r>
          </a:p>
          <a:p>
            <a:pPr marL="0" indent="0">
              <a:buNone/>
            </a:pPr>
            <a:r>
              <a:rPr lang="en-US" dirty="0"/>
              <a:t>5xx : </a:t>
            </a:r>
            <a:r>
              <a:rPr lang="en-US" b="1" dirty="0"/>
              <a:t>“I messed up.” </a:t>
            </a:r>
            <a:r>
              <a:rPr lang="en-US" dirty="0"/>
              <a:t>The server failed to fulfill an apparently valid request (e.g., server crashed). Server Error</a:t>
            </a:r>
          </a:p>
        </p:txBody>
      </p:sp>
      <p:pic>
        <p:nvPicPr>
          <p:cNvPr id="4" name="Content Placeholder 4" descr="A cartoon of a cat with a computer chip&#10;&#10;Description automatically generated">
            <a:extLst>
              <a:ext uri="{FF2B5EF4-FFF2-40B4-BE49-F238E27FC236}">
                <a16:creationId xmlns:a16="http://schemas.microsoft.com/office/drawing/2014/main" id="{4F4B1B11-64A3-943A-B712-A81F65198F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883" b="89987" l="7218" r="96653">
                        <a14:foregroundMark x1="10251" y1="79324" x2="10565" y2="70611"/>
                        <a14:foregroundMark x1="7322" y1="68270" x2="7845" y2="71131"/>
                        <a14:foregroundMark x1="20607" y1="89337" x2="20397" y2="88036"/>
                        <a14:foregroundMark x1="23431" y1="89597" x2="35042" y2="89987"/>
                        <a14:foregroundMark x1="91004" y1="49805" x2="96653" y2="40182"/>
                        <a14:foregroundMark x1="7322" y1="71131" x2="8368" y2="58648"/>
                        <a14:backgroundMark x1="9310" y1="52926" x2="4393" y2="6020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2497" y="365125"/>
            <a:ext cx="1647904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8938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1CAE4-7F59-1032-B7C4-8A61F35C7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F0961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HTTP Status Codes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40660-5C81-ECE2-A3E2-6ABD2D1529B4}"/>
              </a:ext>
            </a:extLst>
          </p:cNvPr>
          <p:cNvSpPr>
            <a:spLocks noGrp="1"/>
          </p:cNvSpPr>
          <p:nvPr>
            <p:ph idx="1"/>
          </p:nvPr>
        </p:nvSpPr>
        <p:spPr>
          <a:xfrm flipV="1">
            <a:off x="838200" y="7878871"/>
            <a:ext cx="2844452" cy="72651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Content Placeholder 4" descr="A cartoon of a cat with a computer chip&#10;&#10;Description automatically generated">
            <a:extLst>
              <a:ext uri="{FF2B5EF4-FFF2-40B4-BE49-F238E27FC236}">
                <a16:creationId xmlns:a16="http://schemas.microsoft.com/office/drawing/2014/main" id="{4F4B1B11-64A3-943A-B712-A81F65198F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883" b="89987" l="7218" r="96653">
                        <a14:foregroundMark x1="10251" y1="79324" x2="10565" y2="70611"/>
                        <a14:foregroundMark x1="7322" y1="68270" x2="7845" y2="71131"/>
                        <a14:foregroundMark x1="20607" y1="89337" x2="20397" y2="88036"/>
                        <a14:foregroundMark x1="23431" y1="89597" x2="35042" y2="89987"/>
                        <a14:foregroundMark x1="91004" y1="49805" x2="96653" y2="40182"/>
                        <a14:foregroundMark x1="7322" y1="71131" x2="8368" y2="58648"/>
                        <a14:backgroundMark x1="9310" y1="52926" x2="4393" y2="6020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7548" y="-364559"/>
            <a:ext cx="1647904" cy="1325563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1358D5A-73D1-278F-E1E1-1AACE5C792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6267412"/>
              </p:ext>
            </p:extLst>
          </p:nvPr>
        </p:nvGraphicFramePr>
        <p:xfrm>
          <a:off x="838200" y="1063018"/>
          <a:ext cx="11128512" cy="5794982"/>
        </p:xfrm>
        <a:graphic>
          <a:graphicData uri="http://schemas.openxmlformats.org/drawingml/2006/table">
            <a:tbl>
              <a:tblPr/>
              <a:tblGrid>
                <a:gridCol w="3709504">
                  <a:extLst>
                    <a:ext uri="{9D8B030D-6E8A-4147-A177-3AD203B41FA5}">
                      <a16:colId xmlns:a16="http://schemas.microsoft.com/office/drawing/2014/main" val="896378173"/>
                    </a:ext>
                  </a:extLst>
                </a:gridCol>
                <a:gridCol w="3709504">
                  <a:extLst>
                    <a:ext uri="{9D8B030D-6E8A-4147-A177-3AD203B41FA5}">
                      <a16:colId xmlns:a16="http://schemas.microsoft.com/office/drawing/2014/main" val="3954773326"/>
                    </a:ext>
                  </a:extLst>
                </a:gridCol>
                <a:gridCol w="3709504">
                  <a:extLst>
                    <a:ext uri="{9D8B030D-6E8A-4147-A177-3AD203B41FA5}">
                      <a16:colId xmlns:a16="http://schemas.microsoft.com/office/drawing/2014/main" val="957374523"/>
                    </a:ext>
                  </a:extLst>
                </a:gridCol>
              </a:tblGrid>
              <a:tr h="256031">
                <a:tc>
                  <a:txBody>
                    <a:bodyPr/>
                    <a:lstStyle/>
                    <a:p>
                      <a:pPr rtl="0"/>
                      <a:r>
                        <a:rPr lang="en-US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Code</a:t>
                      </a:r>
                      <a:endParaRPr lang="en-US" sz="14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48420" marR="48420" marT="32280" marB="3228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Name</a:t>
                      </a:r>
                      <a:endParaRPr lang="en-US" sz="14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48420" marR="48420" marT="32280" marB="3228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Explanation</a:t>
                      </a:r>
                      <a:endParaRPr lang="en-US" sz="14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48420" marR="48420" marT="32280" marB="3228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7763448"/>
                  </a:ext>
                </a:extLst>
              </a:tr>
              <a:tr h="649142">
                <a:tc>
                  <a:txBody>
                    <a:bodyPr/>
                    <a:lstStyle/>
                    <a:p>
                      <a:pPr rtl="0"/>
                      <a:r>
                        <a:rPr lang="en-US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200</a:t>
                      </a:r>
                      <a:endParaRPr lang="en-US" sz="14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48420" marR="48420" marT="32280" marB="3228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OK</a:t>
                      </a:r>
                      <a:endParaRPr lang="en-US" sz="14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48420" marR="48420" marT="32280" marB="3228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The request has succeeded. This is the </a:t>
                      </a:r>
                      <a:r>
                        <a:rPr lang="en-US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standard response for successful HTTP requests</a:t>
                      </a:r>
                      <a:r>
                        <a:rPr lang="en-US" sz="14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48420" marR="48420" marT="32280" marB="3228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3885561"/>
                  </a:ext>
                </a:extLst>
              </a:tr>
              <a:tr h="845698">
                <a:tc>
                  <a:txBody>
                    <a:bodyPr/>
                    <a:lstStyle/>
                    <a:p>
                      <a:pPr rtl="0"/>
                      <a:r>
                        <a:rPr lang="en-US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400</a:t>
                      </a:r>
                      <a:endParaRPr lang="en-US" sz="14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48420" marR="48420" marT="32280" marB="3228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Bad Request</a:t>
                      </a:r>
                      <a:endParaRPr lang="en-US" sz="14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48420" marR="48420" marT="32280" marB="3228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The server </a:t>
                      </a:r>
                      <a:r>
                        <a:rPr lang="en-US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cannot or will not process the request</a:t>
                      </a:r>
                      <a:r>
                        <a:rPr 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due to an apparent client error (e.g., malformed syntax, invalid request message framing, or deceptive request routing).</a:t>
                      </a:r>
                    </a:p>
                  </a:txBody>
                  <a:tcPr marL="48420" marR="48420" marT="32280" marB="3228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5116333"/>
                  </a:ext>
                </a:extLst>
              </a:tr>
              <a:tr h="845698">
                <a:tc>
                  <a:txBody>
                    <a:bodyPr/>
                    <a:lstStyle/>
                    <a:p>
                      <a:pPr rtl="0"/>
                      <a:r>
                        <a:rPr lang="en-US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403</a:t>
                      </a:r>
                      <a:endParaRPr lang="en-US" sz="14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48420" marR="48420" marT="32280" marB="3228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Forbidden</a:t>
                      </a:r>
                      <a:endParaRPr lang="en-US" sz="14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48420" marR="48420" marT="32280" marB="3228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The server understands the request but </a:t>
                      </a:r>
                      <a:r>
                        <a:rPr lang="en-US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refuses to authorize it</a:t>
                      </a:r>
                      <a:r>
                        <a:rPr lang="en-US" sz="14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. This often means the client does not have the necessary permissions to access the resource.</a:t>
                      </a:r>
                    </a:p>
                  </a:txBody>
                  <a:tcPr marL="48420" marR="48420" marT="32280" marB="3228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7591212"/>
                  </a:ext>
                </a:extLst>
              </a:tr>
              <a:tr h="452587">
                <a:tc>
                  <a:txBody>
                    <a:bodyPr/>
                    <a:lstStyle/>
                    <a:p>
                      <a:pPr rtl="0"/>
                      <a:r>
                        <a:rPr lang="en-US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404</a:t>
                      </a:r>
                      <a:endParaRPr lang="en-US" sz="14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48420" marR="48420" marT="32280" marB="3228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Not Found</a:t>
                      </a:r>
                      <a:endParaRPr lang="en-US" sz="14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48420" marR="48420" marT="32280" marB="3228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The server </a:t>
                      </a:r>
                      <a:r>
                        <a:rPr lang="en-US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cannot find the requested resource</a:t>
                      </a:r>
                      <a:r>
                        <a:rPr lang="en-US" sz="14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. This is the most famous error code.</a:t>
                      </a:r>
                    </a:p>
                  </a:txBody>
                  <a:tcPr marL="48420" marR="48420" marT="32280" marB="3228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4447682"/>
                  </a:ext>
                </a:extLst>
              </a:tr>
              <a:tr h="845698">
                <a:tc>
                  <a:txBody>
                    <a:bodyPr/>
                    <a:lstStyle/>
                    <a:p>
                      <a:pPr rtl="0"/>
                      <a:r>
                        <a:rPr lang="en-US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409</a:t>
                      </a:r>
                      <a:endParaRPr lang="en-US" sz="14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48420" marR="48420" marT="32280" marB="3228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Conflict</a:t>
                      </a:r>
                      <a:endParaRPr lang="en-US" sz="14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48420" marR="48420" marT="32280" marB="3228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The request could not be completed because of a </a:t>
                      </a:r>
                      <a:r>
                        <a:rPr lang="en-US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conflict with the current state of the target resource</a:t>
                      </a:r>
                      <a:r>
                        <a:rPr lang="en-US" sz="14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. This is often used for version control conflicts.</a:t>
                      </a:r>
                    </a:p>
                  </a:txBody>
                  <a:tcPr marL="48420" marR="48420" marT="32280" marB="3228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5681724"/>
                  </a:ext>
                </a:extLst>
              </a:tr>
              <a:tr h="649142">
                <a:tc>
                  <a:txBody>
                    <a:bodyPr/>
                    <a:lstStyle/>
                    <a:p>
                      <a:pPr rtl="0"/>
                      <a:r>
                        <a:rPr lang="en-US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500</a:t>
                      </a:r>
                      <a:endParaRPr lang="en-US" sz="14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48420" marR="48420" marT="32280" marB="3228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Internal Server Error</a:t>
                      </a:r>
                      <a:endParaRPr lang="en-US" sz="14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48420" marR="48420" marT="32280" marB="3228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 generic error message, given when an </a:t>
                      </a:r>
                      <a:r>
                        <a:rPr lang="en-US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unexpected condition was encountered</a:t>
                      </a:r>
                      <a:r>
                        <a:rPr lang="en-US" sz="14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and no more specific message is suitable.</a:t>
                      </a:r>
                    </a:p>
                  </a:txBody>
                  <a:tcPr marL="48420" marR="48420" marT="32280" marB="3228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459745"/>
                  </a:ext>
                </a:extLst>
              </a:tr>
              <a:tr h="845698">
                <a:tc>
                  <a:txBody>
                    <a:bodyPr/>
                    <a:lstStyle/>
                    <a:p>
                      <a:pPr rtl="0"/>
                      <a:r>
                        <a:rPr lang="en-US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504</a:t>
                      </a:r>
                      <a:endParaRPr lang="en-US" sz="14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48420" marR="48420" marT="32280" marB="3228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Gateway Timeout</a:t>
                      </a:r>
                      <a:endParaRPr lang="en-US" sz="14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48420" marR="48420" marT="32280" marB="3228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The server, while acting as a gateway or proxy, </a:t>
                      </a:r>
                      <a:r>
                        <a:rPr lang="en-US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did not get a timely response</a:t>
                      </a:r>
                      <a:r>
                        <a:rPr 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from the upstream server it needed to access to complete the request.</a:t>
                      </a:r>
                    </a:p>
                  </a:txBody>
                  <a:tcPr marL="48420" marR="48420" marT="32280" marB="3228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25882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07703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1CAE4-7F59-1032-B7C4-8A61F35C7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0961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Backend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40660-5C81-ECE2-A3E2-6ABD2D1529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52575"/>
            <a:ext cx="10969487" cy="494029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Logic and Data:</a:t>
            </a:r>
            <a:r>
              <a:rPr lang="en-US" dirty="0"/>
              <a:t> Hosts the </a:t>
            </a:r>
            <a:r>
              <a:rPr lang="en-US" b="1" dirty="0"/>
              <a:t>application logic</a:t>
            </a:r>
            <a:r>
              <a:rPr lang="en-US" dirty="0"/>
              <a:t> and manages access to persistent data storage (e.g., databases).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Service Provider:</a:t>
            </a:r>
            <a:r>
              <a:rPr lang="en-US" dirty="0"/>
              <a:t> Exposes sets of </a:t>
            </a:r>
            <a:r>
              <a:rPr lang="en-US" b="1" dirty="0"/>
              <a:t>APIs (Application Programming Interfaces)</a:t>
            </a:r>
            <a:r>
              <a:rPr lang="en-US" dirty="0"/>
              <a:t> that enable the Client to access functionality.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Request Handling: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Receives </a:t>
            </a:r>
            <a:r>
              <a:rPr lang="en-US" b="1" dirty="0"/>
              <a:t>Requests</a:t>
            </a:r>
            <a:r>
              <a:rPr lang="en-US" dirty="0"/>
              <a:t> from the Client.</a:t>
            </a:r>
          </a:p>
          <a:p>
            <a:pPr marL="0" indent="0">
              <a:buNone/>
            </a:pPr>
            <a:r>
              <a:rPr lang="en-US" dirty="0"/>
              <a:t>Processes the request using business logic.</a:t>
            </a:r>
          </a:p>
          <a:p>
            <a:pPr marL="0" indent="0">
              <a:buNone/>
            </a:pPr>
            <a:r>
              <a:rPr lang="en-US" dirty="0"/>
              <a:t>Generates and returns the appropriate </a:t>
            </a:r>
            <a:r>
              <a:rPr lang="en-US" b="1" dirty="0"/>
              <a:t>Response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The Server:</a:t>
            </a:r>
            <a:r>
              <a:rPr lang="en-US" dirty="0"/>
              <a:t> Fundamentally, the Backend is the </a:t>
            </a:r>
            <a:r>
              <a:rPr lang="en-US" b="1" dirty="0"/>
              <a:t>Server</a:t>
            </a:r>
            <a:r>
              <a:rPr lang="en-US" dirty="0"/>
              <a:t> component in a client-server architecture, operating "under the hood" away from the user interface.</a:t>
            </a:r>
          </a:p>
        </p:txBody>
      </p:sp>
      <p:pic>
        <p:nvPicPr>
          <p:cNvPr id="4" name="Content Placeholder 4" descr="A cartoon of a cat with a computer chip&#10;&#10;Description automatically generated">
            <a:extLst>
              <a:ext uri="{FF2B5EF4-FFF2-40B4-BE49-F238E27FC236}">
                <a16:creationId xmlns:a16="http://schemas.microsoft.com/office/drawing/2014/main" id="{4F4B1B11-64A3-943A-B712-A81F65198F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883" b="89987" l="7218" r="96653">
                        <a14:foregroundMark x1="10251" y1="79324" x2="10565" y2="70611"/>
                        <a14:foregroundMark x1="7322" y1="68270" x2="7845" y2="71131"/>
                        <a14:foregroundMark x1="20607" y1="89337" x2="20397" y2="88036"/>
                        <a14:foregroundMark x1="23431" y1="89597" x2="35042" y2="89987"/>
                        <a14:foregroundMark x1="91004" y1="49805" x2="96653" y2="40182"/>
                        <a14:foregroundMark x1="7322" y1="71131" x2="8368" y2="58648"/>
                        <a14:backgroundMark x1="9310" y1="52926" x2="4393" y2="6020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0671" y="121858"/>
            <a:ext cx="1647904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5747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1CAE4-7F59-1032-B7C4-8A61F35C7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0961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Rest API in action (break)</a:t>
            </a:r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71551243-24C0-B550-2B29-0A2AE64D9A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1815527"/>
              </p:ext>
            </p:extLst>
          </p:nvPr>
        </p:nvGraphicFramePr>
        <p:xfrm>
          <a:off x="985345" y="1428362"/>
          <a:ext cx="10515600" cy="256032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410869603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1707896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Username (Nickname)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Password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96055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admin_view_only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view_only!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2183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admin_almost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can_edit!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46601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user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just_user!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68876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student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never_stop_learning!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4480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guest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hello!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6109739"/>
                  </a:ext>
                </a:extLst>
              </a:tr>
            </a:tbl>
          </a:graphicData>
        </a:graphic>
      </p:graphicFrame>
      <p:pic>
        <p:nvPicPr>
          <p:cNvPr id="4" name="Content Placeholder 4" descr="A cartoon of a cat with a computer chip&#10;&#10;Description automatically generated">
            <a:extLst>
              <a:ext uri="{FF2B5EF4-FFF2-40B4-BE49-F238E27FC236}">
                <a16:creationId xmlns:a16="http://schemas.microsoft.com/office/drawing/2014/main" id="{4F4B1B11-64A3-943A-B712-A81F65198F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883" b="89987" l="7218" r="96653">
                        <a14:foregroundMark x1="10251" y1="79324" x2="10565" y2="70611"/>
                        <a14:foregroundMark x1="7322" y1="68270" x2="7845" y2="71131"/>
                        <a14:foregroundMark x1="20607" y1="89337" x2="20397" y2="88036"/>
                        <a14:foregroundMark x1="23431" y1="89597" x2="35042" y2="89987"/>
                        <a14:foregroundMark x1="91004" y1="49805" x2="96653" y2="40182"/>
                        <a14:foregroundMark x1="7322" y1="71131" x2="8368" y2="58648"/>
                        <a14:backgroundMark x1="9310" y1="52926" x2="4393" y2="6020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9848" y="0"/>
            <a:ext cx="1647904" cy="1325563"/>
          </a:xfrm>
          <a:prstGeom prst="rect">
            <a:avLst/>
          </a:prstGeom>
        </p:spPr>
      </p:pic>
      <p:pic>
        <p:nvPicPr>
          <p:cNvPr id="7" name="Picture 6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F2EFB924-6F81-45B4-261D-7701A3C8DB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345" y="4035703"/>
            <a:ext cx="2787869" cy="2787869"/>
          </a:xfrm>
          <a:prstGeom prst="rect">
            <a:avLst/>
          </a:prstGeom>
        </p:spPr>
      </p:pic>
      <p:pic>
        <p:nvPicPr>
          <p:cNvPr id="8" name="Picture 7" descr="A qr code with a white background&#10;&#10;Description automatically generated">
            <a:extLst>
              <a:ext uri="{FF2B5EF4-FFF2-40B4-BE49-F238E27FC236}">
                <a16:creationId xmlns:a16="http://schemas.microsoft.com/office/drawing/2014/main" id="{4748C0E8-8430-36F7-7821-AF08956189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3145" y="3988682"/>
            <a:ext cx="2787869" cy="278786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54828FF-9AA5-A5EB-3EB0-9B76C6A890FF}"/>
              </a:ext>
            </a:extLst>
          </p:cNvPr>
          <p:cNvSpPr txBox="1"/>
          <p:nvPr/>
        </p:nvSpPr>
        <p:spPr>
          <a:xfrm>
            <a:off x="9104587" y="3988681"/>
            <a:ext cx="25435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qrco.de</a:t>
            </a:r>
            <a:r>
              <a:rPr lang="en-US" sz="2400" dirty="0"/>
              <a:t>/bgTN5Z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441419-119F-8D8D-7B89-8B5111ECDF29}"/>
              </a:ext>
            </a:extLst>
          </p:cNvPr>
          <p:cNvSpPr txBox="1"/>
          <p:nvPr/>
        </p:nvSpPr>
        <p:spPr>
          <a:xfrm>
            <a:off x="3690445" y="3988682"/>
            <a:ext cx="23753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qrco.de</a:t>
            </a:r>
            <a:r>
              <a:rPr lang="en-US" sz="2400" dirty="0"/>
              <a:t>/bgTN4o</a:t>
            </a:r>
          </a:p>
        </p:txBody>
      </p:sp>
    </p:spTree>
    <p:extLst>
      <p:ext uri="{BB962C8B-B14F-4D97-AF65-F5344CB8AC3E}">
        <p14:creationId xmlns:p14="http://schemas.microsoft.com/office/powerpoint/2010/main" val="21482518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1CAE4-7F59-1032-B7C4-8A61F35C7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849" y="22470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F0961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How Can We Store Data Permanently?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40660-5C81-ECE2-A3E2-6ABD2D1529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8033"/>
            <a:ext cx="11190402" cy="5137608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Temporary Storage (In-Memory):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Data structures like </a:t>
            </a:r>
            <a:r>
              <a:rPr lang="en-US" b="1" dirty="0"/>
              <a:t>Arrays</a:t>
            </a:r>
            <a:r>
              <a:rPr lang="en-US" dirty="0"/>
              <a:t> or </a:t>
            </a:r>
            <a:r>
              <a:rPr lang="en-US" b="1" dirty="0"/>
              <a:t>Lists</a:t>
            </a:r>
            <a:r>
              <a:rPr lang="en-US" dirty="0"/>
              <a:t> are excellent for organizing data </a:t>
            </a:r>
            <a:r>
              <a:rPr lang="en-US" i="1" dirty="0"/>
              <a:t>while a program is running</a:t>
            </a:r>
            <a:r>
              <a:rPr lang="en-US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Limitation:</a:t>
            </a:r>
            <a:r>
              <a:rPr lang="en-US" dirty="0"/>
              <a:t> This data is stored in the program's </a:t>
            </a:r>
            <a:r>
              <a:rPr lang="en-US" b="1" dirty="0"/>
              <a:t>memory</a:t>
            </a:r>
            <a:r>
              <a:rPr lang="en-US" dirty="0"/>
              <a:t> (RAM) and is </a:t>
            </a:r>
            <a:r>
              <a:rPr lang="en-US" b="1" dirty="0"/>
              <a:t>lost</a:t>
            </a:r>
            <a:r>
              <a:rPr lang="en-US" dirty="0"/>
              <a:t> completely when the program shuts down.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Simple File Storage (Basic Persistence):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We can use simple </a:t>
            </a:r>
            <a:r>
              <a:rPr lang="en-US" b="1" dirty="0"/>
              <a:t>text files (.txt)</a:t>
            </a:r>
            <a:r>
              <a:rPr lang="en-US" dirty="0"/>
              <a:t> to read and write data, achieving basic </a:t>
            </a:r>
            <a:r>
              <a:rPr lang="en-US" b="1" dirty="0"/>
              <a:t>persistence</a:t>
            </a:r>
            <a:r>
              <a:rPr lang="en-US" dirty="0"/>
              <a:t> (data survives program shutdown).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Limitation:</a:t>
            </a:r>
            <a:r>
              <a:rPr lang="en-US" dirty="0"/>
              <a:t> This approach quickly becomes impractical and complex when dealing with: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sz="1800" b="1" dirty="0"/>
              <a:t>Multiple simultaneous users</a:t>
            </a:r>
            <a:r>
              <a:rPr lang="en-US" sz="1800" dirty="0"/>
              <a:t> (concurrent access).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sz="1800" b="1" dirty="0"/>
              <a:t>Structured relationships</a:t>
            </a:r>
            <a:r>
              <a:rPr lang="en-US" sz="1800" dirty="0"/>
              <a:t> between different data types.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sz="1800" b="1" dirty="0"/>
              <a:t>Large volumes</a:t>
            </a:r>
            <a:r>
              <a:rPr lang="en-US" sz="1800" dirty="0"/>
              <a:t> of data.</a:t>
            </a:r>
          </a:p>
        </p:txBody>
      </p:sp>
      <p:pic>
        <p:nvPicPr>
          <p:cNvPr id="4" name="Content Placeholder 4" descr="A cartoon of a cat with a computer chip&#10;&#10;Description automatically generated">
            <a:extLst>
              <a:ext uri="{FF2B5EF4-FFF2-40B4-BE49-F238E27FC236}">
                <a16:creationId xmlns:a16="http://schemas.microsoft.com/office/drawing/2014/main" id="{4F4B1B11-64A3-943A-B712-A81F65198F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883" b="89987" l="7218" r="96653">
                        <a14:foregroundMark x1="10251" y1="79324" x2="10565" y2="70611"/>
                        <a14:foregroundMark x1="7322" y1="68270" x2="7845" y2="71131"/>
                        <a14:foregroundMark x1="20607" y1="89337" x2="20397" y2="88036"/>
                        <a14:foregroundMark x1="23431" y1="89597" x2="35042" y2="89987"/>
                        <a14:foregroundMark x1="91004" y1="49805" x2="96653" y2="40182"/>
                        <a14:foregroundMark x1="7322" y1="71131" x2="8368" y2="58648"/>
                        <a14:backgroundMark x1="9310" y1="52926" x2="4393" y2="6020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3247" y="0"/>
            <a:ext cx="1647904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1141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1CAE4-7F59-1032-B7C4-8A61F35C7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62122" cy="1325563"/>
          </a:xfrm>
        </p:spPr>
        <p:txBody>
          <a:bodyPr/>
          <a:lstStyle/>
          <a:p>
            <a:r>
              <a:rPr lang="en-US" dirty="0">
                <a:solidFill>
                  <a:srgbClr val="F0961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Databases: The Solution for Persistent Data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40660-5C81-ECE2-A3E2-6ABD2D1529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Databases</a:t>
            </a:r>
            <a:r>
              <a:rPr lang="en-US" dirty="0"/>
              <a:t> are optimized systems designed to </a:t>
            </a:r>
            <a:r>
              <a:rPr lang="en-US" b="1" dirty="0"/>
              <a:t>store, manage, and retrieve</a:t>
            </a:r>
            <a:r>
              <a:rPr lang="en-US" dirty="0"/>
              <a:t> application data </a:t>
            </a:r>
            <a:r>
              <a:rPr lang="en-US" b="1" dirty="0"/>
              <a:t>efficiently and reliably</a:t>
            </a:r>
            <a:r>
              <a:rPr lang="en-US" dirty="0"/>
              <a:t> under heavy transactional loads.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Core Functions:</a:t>
            </a:r>
            <a:r>
              <a:rPr lang="en-US" dirty="0"/>
              <a:t> They provide robust mechanisms for </a:t>
            </a:r>
            <a:r>
              <a:rPr lang="en-US" b="1" dirty="0"/>
              <a:t>efficient CRUD operations: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C</a:t>
            </a:r>
            <a:r>
              <a:rPr lang="en-US" dirty="0"/>
              <a:t>reate (insert new data)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R</a:t>
            </a:r>
            <a:r>
              <a:rPr lang="en-US" dirty="0"/>
              <a:t>ead (query existing data)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U</a:t>
            </a:r>
            <a:r>
              <a:rPr lang="en-US" dirty="0"/>
              <a:t>pdate (modify existing data)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D</a:t>
            </a:r>
            <a:r>
              <a:rPr lang="en-US" dirty="0"/>
              <a:t>elete (remove data)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Key Design Focus:</a:t>
            </a:r>
            <a:r>
              <a:rPr lang="en-US" dirty="0"/>
              <a:t> Databases are engineered for </a:t>
            </a:r>
            <a:r>
              <a:rPr lang="en-US" b="1" dirty="0"/>
              <a:t>scalability, concurrency</a:t>
            </a:r>
            <a:r>
              <a:rPr lang="en-US" dirty="0"/>
              <a:t>, and </a:t>
            </a:r>
            <a:r>
              <a:rPr lang="en-US" b="1" dirty="0"/>
              <a:t>data integrity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FFFFFF"/>
              </a:solidFill>
              <a:effectLst/>
              <a:highlight>
                <a:srgbClr val="1B1C1D"/>
              </a:highlight>
              <a:latin typeface="Google Sans Flex"/>
            </a:endParaRPr>
          </a:p>
        </p:txBody>
      </p:sp>
    </p:spTree>
    <p:extLst>
      <p:ext uri="{BB962C8B-B14F-4D97-AF65-F5344CB8AC3E}">
        <p14:creationId xmlns:p14="http://schemas.microsoft.com/office/powerpoint/2010/main" val="25996645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1CAE4-7F59-1032-B7C4-8A61F35C7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0961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CRUD</a:t>
            </a:r>
            <a:endParaRPr lang="en-US" dirty="0"/>
          </a:p>
        </p:txBody>
      </p:sp>
      <p:pic>
        <p:nvPicPr>
          <p:cNvPr id="6" name="Content Placeholder 5" descr="A black background with arrows pointing to the right&#10;&#10;Description automatically generated">
            <a:extLst>
              <a:ext uri="{FF2B5EF4-FFF2-40B4-BE49-F238E27FC236}">
                <a16:creationId xmlns:a16="http://schemas.microsoft.com/office/drawing/2014/main" id="{F4F6AFE4-7F9E-E660-9F11-3C70E8A5F3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331" y="1393031"/>
            <a:ext cx="10259338" cy="4462812"/>
          </a:xfrm>
        </p:spPr>
      </p:pic>
      <p:pic>
        <p:nvPicPr>
          <p:cNvPr id="4" name="Content Placeholder 4" descr="A cartoon of a cat with a computer chip&#10;&#10;Description automatically generated">
            <a:extLst>
              <a:ext uri="{FF2B5EF4-FFF2-40B4-BE49-F238E27FC236}">
                <a16:creationId xmlns:a16="http://schemas.microsoft.com/office/drawing/2014/main" id="{4F4B1B11-64A3-943A-B712-A81F65198F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883" b="89987" l="7218" r="96653">
                        <a14:foregroundMark x1="10251" y1="79324" x2="10565" y2="70611"/>
                        <a14:foregroundMark x1="7322" y1="68270" x2="7845" y2="71131"/>
                        <a14:foregroundMark x1="20607" y1="89337" x2="20397" y2="88036"/>
                        <a14:foregroundMark x1="23431" y1="89597" x2="35042" y2="89987"/>
                        <a14:foregroundMark x1="91004" y1="49805" x2="96653" y2="40182"/>
                        <a14:foregroundMark x1="7322" y1="71131" x2="8368" y2="58648"/>
                        <a14:backgroundMark x1="9310" y1="52926" x2="4393" y2="6020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1987" y="0"/>
            <a:ext cx="1647904" cy="132556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74D60DE-3EA4-1A38-BB32-6A50E1809ABF}"/>
              </a:ext>
            </a:extLst>
          </p:cNvPr>
          <p:cNvSpPr txBox="1"/>
          <p:nvPr/>
        </p:nvSpPr>
        <p:spPr>
          <a:xfrm>
            <a:off x="966331" y="6225375"/>
            <a:ext cx="61148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2">
                    <a:lumMod val="50000"/>
                  </a:schemeClr>
                </a:solidFill>
              </a:rPr>
              <a:t>Source: </a:t>
            </a:r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edureka.co</a:t>
            </a:r>
            <a:r>
              <a:rPr lang="en-US" sz="1600" dirty="0">
                <a:solidFill>
                  <a:schemeClr val="bg2">
                    <a:lumMod val="50000"/>
                  </a:schemeClr>
                </a:solidFill>
              </a:rPr>
              <a:t>/blog/what-is-rest-</a:t>
            </a:r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api</a:t>
            </a:r>
            <a:endParaRPr lang="en-US" sz="16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71586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1CAE4-7F59-1032-B7C4-8A61F35C7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0961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To-Do List App: Security Requirements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40660-5C81-ECE2-A3E2-6ABD2D1529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7142"/>
            <a:ext cx="10515600" cy="4649821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A new requirement has been introduced to address critical security and access issues regarding task management: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1. The Access Control Problem</a:t>
            </a:r>
          </a:p>
          <a:p>
            <a:r>
              <a:rPr lang="en-US" dirty="0"/>
              <a:t>The current system allows </a:t>
            </a:r>
            <a:r>
              <a:rPr lang="en-US" b="1" dirty="0"/>
              <a:t>User X</a:t>
            </a:r>
            <a:r>
              <a:rPr lang="en-US" dirty="0"/>
              <a:t> to improperly </a:t>
            </a:r>
            <a:r>
              <a:rPr lang="en-US" b="1" dirty="0"/>
              <a:t>read, edit, and delete</a:t>
            </a:r>
            <a:r>
              <a:rPr lang="en-US" dirty="0"/>
              <a:t> tasks belonging to </a:t>
            </a:r>
            <a:r>
              <a:rPr lang="en-US" b="1" dirty="0"/>
              <a:t>User Y</a:t>
            </a:r>
            <a:r>
              <a:rPr lang="en-US" dirty="0"/>
              <a:t>, including the ability to </a:t>
            </a:r>
            <a:r>
              <a:rPr lang="en-US" b="1" dirty="0"/>
              <a:t>create tasks impersonating User Y</a:t>
            </a:r>
            <a:r>
              <a:rPr lang="en-US" dirty="0"/>
              <a:t>. This must be immediately fixed.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2. The New Role-Based Requirements</a:t>
            </a:r>
          </a:p>
          <a:p>
            <a:r>
              <a:rPr lang="en-US" dirty="0"/>
              <a:t>We must implement a </a:t>
            </a:r>
            <a:r>
              <a:rPr lang="en-US" b="1" dirty="0"/>
              <a:t>Role-Based Access Control (RBAC)</a:t>
            </a:r>
            <a:r>
              <a:rPr lang="en-US" dirty="0"/>
              <a:t> system to enforce the following separation of privileges: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Standard Users:</a:t>
            </a:r>
            <a:r>
              <a:rPr lang="en-US" dirty="0"/>
              <a:t> Must only be able to </a:t>
            </a:r>
            <a:r>
              <a:rPr lang="en-US" b="1" dirty="0"/>
              <a:t>read, create, edit, and delete</a:t>
            </a:r>
            <a:r>
              <a:rPr lang="en-US" dirty="0"/>
              <a:t> their </a:t>
            </a:r>
            <a:r>
              <a:rPr lang="en-US" i="1" dirty="0"/>
              <a:t>own</a:t>
            </a:r>
            <a:r>
              <a:rPr lang="en-US" dirty="0"/>
              <a:t> To-Do items. They must </a:t>
            </a:r>
            <a:r>
              <a:rPr lang="en-US" b="1" dirty="0"/>
              <a:t>not</a:t>
            </a:r>
            <a:r>
              <a:rPr lang="en-US" dirty="0"/>
              <a:t> have access to other users'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System Owner/Admin:</a:t>
            </a:r>
            <a:r>
              <a:rPr lang="en-US" dirty="0"/>
              <a:t> A specialized role must be created (e.g., "Admin") that retains the capability to </a:t>
            </a:r>
            <a:r>
              <a:rPr lang="en-US" b="1" dirty="0"/>
              <a:t>view, edit, and delete</a:t>
            </a:r>
            <a:r>
              <a:rPr lang="en-US" dirty="0"/>
              <a:t> </a:t>
            </a:r>
            <a:r>
              <a:rPr lang="en-US" i="1" dirty="0"/>
              <a:t>all</a:t>
            </a:r>
            <a:r>
              <a:rPr lang="en-US" dirty="0"/>
              <a:t> To-Do items across all users to facilitate content moderation and maintenance.</a:t>
            </a:r>
          </a:p>
        </p:txBody>
      </p:sp>
    </p:spTree>
    <p:extLst>
      <p:ext uri="{BB962C8B-B14F-4D97-AF65-F5344CB8AC3E}">
        <p14:creationId xmlns:p14="http://schemas.microsoft.com/office/powerpoint/2010/main" val="1690157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1CAE4-7F59-1032-B7C4-8A61F35C7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0961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Authentication &amp; Authorization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40660-5C81-ECE2-A3E2-6ABD2D1529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Authentication (</a:t>
            </a:r>
            <a:r>
              <a:rPr lang="en-US" dirty="0" err="1"/>
              <a:t>AuthN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The Question: "Who are you?"</a:t>
            </a:r>
          </a:p>
          <a:p>
            <a:pPr marL="0" indent="0">
              <a:buNone/>
            </a:pPr>
            <a:r>
              <a:rPr lang="en-US" dirty="0"/>
              <a:t>Definition: The process of verifying the identity of a user.</a:t>
            </a:r>
          </a:p>
          <a:p>
            <a:pPr marL="0" indent="0">
              <a:buNone/>
            </a:pPr>
            <a:r>
              <a:rPr lang="en-US" dirty="0"/>
              <a:t>Example: Logging in with a username and password.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Authorization (</a:t>
            </a:r>
            <a:r>
              <a:rPr lang="en-US" dirty="0" err="1"/>
              <a:t>AuthZ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The Question: "What are you allowed to do?"</a:t>
            </a:r>
          </a:p>
          <a:p>
            <a:pPr marL="0" indent="0">
              <a:buNone/>
            </a:pPr>
            <a:r>
              <a:rPr lang="en-US" dirty="0"/>
              <a:t>Definition: The process of determining which resources or actions a user can access.</a:t>
            </a:r>
          </a:p>
          <a:p>
            <a:pPr marL="0" indent="0">
              <a:buNone/>
            </a:pPr>
            <a:r>
              <a:rPr lang="en-US" dirty="0"/>
              <a:t>Example: A Student can only view their own grades, but a Teacher can edit everyone's grades.</a:t>
            </a:r>
          </a:p>
        </p:txBody>
      </p:sp>
      <p:pic>
        <p:nvPicPr>
          <p:cNvPr id="4" name="Content Placeholder 4" descr="A cartoon of a cat with a computer chip&#10;&#10;Description automatically generated">
            <a:extLst>
              <a:ext uri="{FF2B5EF4-FFF2-40B4-BE49-F238E27FC236}">
                <a16:creationId xmlns:a16="http://schemas.microsoft.com/office/drawing/2014/main" id="{4F4B1B11-64A3-943A-B712-A81F65198F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883" b="89987" l="7218" r="96653">
                        <a14:foregroundMark x1="10251" y1="79324" x2="10565" y2="70611"/>
                        <a14:foregroundMark x1="7322" y1="68270" x2="7845" y2="71131"/>
                        <a14:foregroundMark x1="20607" y1="89337" x2="20397" y2="88036"/>
                        <a14:foregroundMark x1="23431" y1="89597" x2="35042" y2="89987"/>
                        <a14:foregroundMark x1="91004" y1="49805" x2="96653" y2="40182"/>
                        <a14:foregroundMark x1="7322" y1="71131" x2="8368" y2="58648"/>
                        <a14:backgroundMark x1="9310" y1="52926" x2="4393" y2="6020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2497" y="365125"/>
            <a:ext cx="1647904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6009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1CAE4-7F59-1032-B7C4-8A61F35C7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849" y="197923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F0961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Summary</a:t>
            </a:r>
            <a:endParaRPr lang="en-US" dirty="0"/>
          </a:p>
        </p:txBody>
      </p:sp>
      <p:pic>
        <p:nvPicPr>
          <p:cNvPr id="4" name="Content Placeholder 4" descr="A cartoon of a cat with a computer chip&#10;&#10;Description automatically generated">
            <a:extLst>
              <a:ext uri="{FF2B5EF4-FFF2-40B4-BE49-F238E27FC236}">
                <a16:creationId xmlns:a16="http://schemas.microsoft.com/office/drawing/2014/main" id="{4F4B1B11-64A3-943A-B712-A81F65198F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883" b="89987" l="7218" r="96653">
                        <a14:foregroundMark x1="10251" y1="79324" x2="10565" y2="70611"/>
                        <a14:foregroundMark x1="7322" y1="68270" x2="7845" y2="71131"/>
                        <a14:foregroundMark x1="20607" y1="89337" x2="20397" y2="88036"/>
                        <a14:foregroundMark x1="23431" y1="89597" x2="35042" y2="89987"/>
                        <a14:foregroundMark x1="91004" y1="49805" x2="96653" y2="40182"/>
                        <a14:foregroundMark x1="7322" y1="71131" x2="8368" y2="58648"/>
                        <a14:backgroundMark x1="9310" y1="52926" x2="4393" y2="6020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2497" y="0"/>
            <a:ext cx="1647904" cy="132556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A8F4C24-8100-7799-0CCA-7671E2584B23}"/>
              </a:ext>
            </a:extLst>
          </p:cNvPr>
          <p:cNvSpPr txBox="1"/>
          <p:nvPr/>
        </p:nvSpPr>
        <p:spPr>
          <a:xfrm>
            <a:off x="491599" y="1325563"/>
            <a:ext cx="1067551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Frontend Vs Backend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prstClr val="black"/>
                </a:solidFill>
                <a:latin typeface="Aptos" panose="02110004020202020204"/>
              </a:rPr>
              <a:t>API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prstClr val="black"/>
                </a:solidFill>
                <a:latin typeface="Aptos" panose="02110004020202020204"/>
              </a:rPr>
              <a:t>REST API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HTT</a:t>
            </a:r>
            <a:r>
              <a:rPr lang="en-US" sz="2400" dirty="0">
                <a:solidFill>
                  <a:prstClr val="black"/>
                </a:solidFill>
                <a:latin typeface="Aptos" panose="02110004020202020204"/>
              </a:rPr>
              <a:t>P and its methods and status codes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prstClr val="black"/>
                </a:solidFill>
                <a:latin typeface="Aptos" panose="02110004020202020204"/>
              </a:rPr>
              <a:t>Databases and CRUD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prstClr val="black"/>
                </a:solidFill>
                <a:latin typeface="Aptos" panose="02110004020202020204"/>
              </a:rPr>
              <a:t>Authentication and Authorization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59354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1CAE4-7F59-1032-B7C4-8A61F35C7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3286" y="2467023"/>
            <a:ext cx="6485428" cy="1923954"/>
          </a:xfrm>
        </p:spPr>
        <p:txBody>
          <a:bodyPr>
            <a:noAutofit/>
          </a:bodyPr>
          <a:lstStyle/>
          <a:p>
            <a:r>
              <a:rPr lang="en-US" sz="7200" dirty="0">
                <a:solidFill>
                  <a:srgbClr val="F0961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Thank you !!!</a:t>
            </a:r>
            <a:endParaRPr lang="en-US" sz="7200" dirty="0"/>
          </a:p>
        </p:txBody>
      </p:sp>
      <p:pic>
        <p:nvPicPr>
          <p:cNvPr id="4" name="Content Placeholder 4" descr="A cartoon of a cat with a computer chip&#10;&#10;Description automatically generated">
            <a:extLst>
              <a:ext uri="{FF2B5EF4-FFF2-40B4-BE49-F238E27FC236}">
                <a16:creationId xmlns:a16="http://schemas.microsoft.com/office/drawing/2014/main" id="{4F4B1B11-64A3-943A-B712-A81F65198F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883" b="89987" l="7218" r="96653">
                        <a14:foregroundMark x1="10251" y1="79324" x2="10565" y2="70611"/>
                        <a14:foregroundMark x1="7322" y1="68270" x2="7845" y2="71131"/>
                        <a14:foregroundMark x1="20607" y1="89337" x2="20397" y2="88036"/>
                        <a14:foregroundMark x1="23431" y1="89597" x2="35042" y2="89987"/>
                        <a14:foregroundMark x1="91004" y1="49805" x2="96653" y2="40182"/>
                        <a14:foregroundMark x1="7322" y1="71131" x2="8368" y2="58648"/>
                        <a14:backgroundMark x1="9310" y1="52926" x2="4393" y2="6020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2497" y="0"/>
            <a:ext cx="1647904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9277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4771</TotalTime>
  <Words>1841</Words>
  <Application>Microsoft Macintosh PowerPoint</Application>
  <PresentationFormat>Widescreen</PresentationFormat>
  <Paragraphs>199</Paragraphs>
  <Slides>27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ADLaM Display</vt:lpstr>
      <vt:lpstr>Aptos</vt:lpstr>
      <vt:lpstr>Aptos Display</vt:lpstr>
      <vt:lpstr>Arial</vt:lpstr>
      <vt:lpstr>Google Sans Flex</vt:lpstr>
      <vt:lpstr>Google Sans Text</vt:lpstr>
      <vt:lpstr>Office Theme</vt:lpstr>
      <vt:lpstr>Student Branch Chapter  @ USF</vt:lpstr>
      <vt:lpstr>Check in!  Support us!  </vt:lpstr>
      <vt:lpstr>PowerPoint can be obtained</vt:lpstr>
      <vt:lpstr>Follow Us </vt:lpstr>
      <vt:lpstr>Link for the app </vt:lpstr>
      <vt:lpstr>What is our goal? </vt:lpstr>
      <vt:lpstr>What is the frontend? (Client-Side)</vt:lpstr>
      <vt:lpstr>Client-Side*</vt:lpstr>
      <vt:lpstr>Example of frontend - webapp</vt:lpstr>
      <vt:lpstr>What is an API? (Application Programming Interface)</vt:lpstr>
      <vt:lpstr>To-Do List App: API Design</vt:lpstr>
      <vt:lpstr>REST API: The Rules of the Conversation</vt:lpstr>
      <vt:lpstr>HTTP Methods: GET</vt:lpstr>
      <vt:lpstr>HTTP Methods: POST</vt:lpstr>
      <vt:lpstr>HTTP Methods: PUT</vt:lpstr>
      <vt:lpstr>HTTP Methods: DELETE</vt:lpstr>
      <vt:lpstr>HTTP Status Codes</vt:lpstr>
      <vt:lpstr>HTTP Status Codes</vt:lpstr>
      <vt:lpstr>Backend</vt:lpstr>
      <vt:lpstr>Rest API in action (break)</vt:lpstr>
      <vt:lpstr>How Can We Store Data Permanently?</vt:lpstr>
      <vt:lpstr>Databases: The Solution for Persistent Data</vt:lpstr>
      <vt:lpstr>CRUD</vt:lpstr>
      <vt:lpstr>To-Do List App: Security Requirements</vt:lpstr>
      <vt:lpstr>Authentication &amp; Authorization</vt:lpstr>
      <vt:lpstr>Summary</vt:lpstr>
      <vt:lpstr>Thank you !!!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Branch Chapter  @ USF</dc:title>
  <dc:creator>Sneha Siri Nagabathula</dc:creator>
  <cp:lastModifiedBy>Akmal Kurbanov</cp:lastModifiedBy>
  <cp:revision>241</cp:revision>
  <dcterms:created xsi:type="dcterms:W3CDTF">2024-08-09T23:22:34Z</dcterms:created>
  <dcterms:modified xsi:type="dcterms:W3CDTF">2025-11-20T20:21:31Z</dcterms:modified>
</cp:coreProperties>
</file>